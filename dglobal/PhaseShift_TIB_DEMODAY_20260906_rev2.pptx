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a:t>
            </a:r>
          </a:p>
          <a:p>
            <a:r>
              <a:t>皆様こんにちは。PhaseShift Technologiesの加藤です。私たちは『自然資本を新たに掘削せず、いま産業の中で捨てられている流れから重要資源を取り戻す』というミッションを掲げています。同志社大学発の温度応答性高分子を活用し、低濃度廃液から資源を取り戻す新しい分離プロセスを開発しています。駆動熱源には、工場の低品位廃熱の活用を設計目標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【0:30〜1:00】</a:t>
            </a:r>
          </a:p>
          <a:p>
            <a:r>
              <a:t>日本は世界2位のヨウ素産出国ですが、地盤沈下協定により井戸を増やせません。一方で、既存設備を抜けた排水中には年間1,000トン、約118億円相当が『薄すぎる』という理由だけで捨てられています。掘って増やせない構造の中で、捨てられている流れから回収するしか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【1:00〜1:30】</a:t>
            </a:r>
          </a:p>
          <a:p>
            <a:r>
              <a:t>顧客にとっての価値は明確です。新たな揚水を行わず、既存プラントの操業も一切止めずに側流バイパスでボルトオン設置。回収されたヨウ素は全量顧客の売上となり、1拠点あたり年間3,400万円超の純増粗利を生み出します。投資回収は2.33年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【1:30〜2:00】</a:t>
            </a:r>
          </a:p>
          <a:p>
            <a:r>
              <a:t>コア技術は温度応答性高分子です。固定化担体に水を通すのではなく、水中で直接接触させてヨウ素を捕まえ、工場の未利用熱（約40℃）で温めるだけでポリマーが相分離して自発濃縮します。7ppmの希薄水系で96.8%の捕捉を実証済み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【2:00〜2:30】</a:t>
            </a:r>
          </a:p>
          <a:p>
            <a:r>
              <a:t>ビジネスモデルは装置販売、消耗品供給、回収量連動プロセス利用料の3層構造です。自社で重いプラントを持たず、前段モノマー合成と後段精密重合を分ける『Split-CDMOモデル』を採用し、機密保全と高い資本効率を両立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【2:30〜3:00】</a:t>
            </a:r>
          </a:p>
          <a:p>
            <a:r>
              <a:t>まず千葉でユニット経済性と運転データを確立し、それを同型の資源が存在する市場へ移すことを成長経路として設計しています。次にペロブスカイト等のGX廃液へ展開します。さらに北米油ガス田随伴水や東南アジアの地熱水へとグローバルに広げてまい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【3:00〜3:30】</a:t>
            </a:r>
          </a:p>
          <a:p>
            <a:r>
              <a:t>国内主要生産者2社と技術評価を進めています。A社とは秘密保持契約のもとで実廃水サンプルの提供に合意し、9月1日に受領予定です。B社とは8月27日に初回協議を行い、実液サンプルのご提供に合意いただきました。9月末のTRL4実測では、吸着容量 q と再利用回数 R の積でGo/No-Goを判定します。現時点のRの実測は1サイクル79.4%で、低下の要因（劣化か投与量差か）は判別中です。基準を下回れば撤退する規律を事前に公開して臨むのが当社の作法です。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【3:30〜4:00】</a:t>
            </a:r>
          </a:p>
          <a:p>
            <a:r>
              <a:t>大学の先端技術を現場と市場の言葉に翻訳し、事業にするのが私の役目です。TRL4達成後のシードラウンドに向けた事前協議、および実廃液提供・有償PoCパートナー様を募集しています。『掘らない増産を、日本から』。皆様との共創をお待ちしており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731520" y="548640"/>
            <a:ext cx="3291840" cy="1416741"/>
          </a:xfrm>
          <a:prstGeom prst="rect">
            <a:avLst/>
          </a:prstGeom>
        </p:spPr>
      </p:pic>
      <p:sp>
        <p:nvSpPr>
          <p:cNvPr id="3" name="TextBox 2"/>
          <p:cNvSpPr txBox="1"/>
          <p:nvPr/>
        </p:nvSpPr>
        <p:spPr>
          <a:xfrm>
            <a:off x="731520" y="1645920"/>
            <a:ext cx="10698480" cy="1188720"/>
          </a:xfrm>
          <a:prstGeom prst="rect">
            <a:avLst/>
          </a:prstGeom>
          <a:noFill/>
        </p:spPr>
        <p:txBody>
          <a:bodyPr wrap="square" lIns="0" tIns="0" rIns="0" bIns="0">
            <a:spAutoFit/>
          </a:bodyPr>
          <a:lstStyle/>
          <a:p>
            <a:pPr>
              <a:defRPr sz="3000" b="1">
                <a:solidFill>
                  <a:srgbClr val="071E2F"/>
                </a:solidFill>
                <a:latin typeface="Noto Sans JP"/>
              </a:defRPr>
            </a:pPr>
            <a:r>
              <a:t>揚水量を増やさずに、ヨウ素の生産量を引き上げる</a:t>
            </a:r>
          </a:p>
          <a:p>
            <a:pPr>
              <a:spcBef>
                <a:spcPts val="600"/>
              </a:spcBef>
              <a:defRPr sz="1600" b="1">
                <a:solidFill>
                  <a:srgbClr val="00A896"/>
                </a:solidFill>
                <a:latin typeface="Noto Sans JP"/>
              </a:defRPr>
            </a:pPr>
            <a:r>
              <a:t>── 温度応答性高分子による低濃度資源回収 ──</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3017520"/>
            <a:ext cx="10725912" cy="502920"/>
          </a:xfrm>
          <a:prstGeom prst="roundRect">
            <a:avLst/>
          </a:prstGeom>
          <a:solidFill>
            <a:srgbClr val="EFF6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71E2F"/>
                </a:solidFill>
                <a:latin typeface="Noto Sans JP"/>
              </a:defRPr>
            </a:pPr>
            <a:r>
              <a:t>✔ 同志社大発 特許技術  ｜  ✔ 公的支援 5層採択（NEDO NEP・FASTAR・都TIB・千葉県・ERCA）  ｜  ✔ 大手2社と実廃水サンプル提供合意</a:t>
            </a:r>
          </a:p>
        </p:txBody>
      </p:sp>
      <p:sp>
        <p:nvSpPr>
          <p:cNvPr id="7" name="Rounded Rectangle 6"/>
          <p:cNvSpPr/>
          <p:nvPr/>
        </p:nvSpPr>
        <p:spPr>
          <a:xfrm>
            <a:off x="731520" y="3749039"/>
            <a:ext cx="10725912" cy="22860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228600"/>
          <a:lstStyle/>
          <a:p>
            <a:pPr algn="ctr">
              <a:defRPr sz="1600" b="1">
                <a:solidFill>
                  <a:srgbClr val="071E2F"/>
                </a:solidFill>
                <a:latin typeface="Noto Sans JP"/>
              </a:defRPr>
            </a:pPr>
            <a:r>
              <a:t>「自然資本を新たに掘削せず、いま産業の中で捨てられている流れから、重要資源を取り戻す。」</a:t>
            </a:r>
          </a:p>
          <a:p>
            <a:pPr>
              <a:spcBef>
                <a:spcPts val="1200"/>
              </a:spcBef>
              <a:defRPr sz="1200">
                <a:solidFill>
                  <a:srgbClr val="1E293B"/>
                </a:solidFill>
                <a:latin typeface="Noto Sans JP"/>
              </a:defRPr>
            </a:pPr>
            <a:r>
              <a:t>■ 代表：加藤 淳一（連続起業家 / 共同発明者 / 千葉県白子町 地域活性化起業人）</a:t>
            </a:r>
            <a:br/>
            <a:r>
              <a:t>■ 技術シーズ：同志社大学 理工学部 機能分子・生命化学科 准教授 西村 慎之介</a:t>
            </a:r>
            <a:br/>
            <a:r>
              <a:t>■ プレゼンテーション：TIB STUDIO DEMO DAY 2026（ピッチ4分 / 質疑対応）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掘って増やせない。なのに、捨てられている</a:t>
            </a:r>
          </a:p>
          <a:p>
            <a:pPr>
              <a:spcBef>
                <a:spcPts val="300"/>
              </a:spcBef>
              <a:defRPr sz="1300" b="1">
                <a:solidFill>
                  <a:srgbClr val="00A896"/>
                </a:solidFill>
                <a:latin typeface="Noto Sans JP"/>
              </a:defRPr>
            </a:pPr>
            <a:r>
              <a:t>地盤沈下協定で井戸新設不可 × 年間700〜1,000トン（当社推計 約60〜86億円相当）が海へ流出</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1. 世界シェア 30%</a:t>
            </a:r>
          </a:p>
          <a:p>
            <a:pPr>
              <a:spcBef>
                <a:spcPts val="1000"/>
              </a:spcBef>
              <a:defRPr sz="1100">
                <a:solidFill>
                  <a:srgbClr val="1E293B"/>
                </a:solidFill>
                <a:latin typeface="Noto Sans JP"/>
              </a:defRPr>
            </a:pPr>
            <a:r>
              <a:t>世界第2位の戦略重要資源</a:t>
            </a:r>
            <a:br/>
            <a:br/>
            <a:r>
              <a:t>・医療用途 44%（X線造影剤・消毒）</a:t>
            </a:r>
            <a:br/>
            <a:r>
              <a:t>・電子材料 30%（液晶フィルム）</a:t>
            </a:r>
            <a:br/>
            <a:r>
              <a:t>・次世代GX（ペロブスカイト太陽電池）</a:t>
            </a:r>
          </a:p>
        </p:txBody>
      </p:sp>
      <p:sp>
        <p:nvSpPr>
          <p:cNvPr id="7" name="Rounded Rectangle 6"/>
          <p:cNvSpPr/>
          <p:nvPr/>
        </p:nvSpPr>
        <p:spPr>
          <a:xfrm>
            <a:off x="4389120" y="1325880"/>
            <a:ext cx="3410712"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D97706"/>
                </a:solidFill>
                <a:latin typeface="Noto Sans JP"/>
              </a:defRPr>
            </a:pPr>
            <a:r>
              <a:t>2. 構造的供給限界</a:t>
            </a:r>
          </a:p>
          <a:p>
            <a:pPr>
              <a:spcBef>
                <a:spcPts val="1000"/>
              </a:spcBef>
              <a:defRPr sz="1100">
                <a:solidFill>
                  <a:srgbClr val="1E293B"/>
                </a:solidFill>
                <a:latin typeface="Noto Sans JP"/>
              </a:defRPr>
            </a:pPr>
            <a:r>
              <a:t>地盤沈下協定により井戸新設不可</a:t>
            </a:r>
            <a:br/>
            <a:br/>
            <a:r>
              <a:t>・主要地域の鉱区は飽和</a:t>
            </a:r>
            <a:br/>
            <a:r>
              <a:t>・地上排水上限協定により揚水制限</a:t>
            </a:r>
            <a:br/>
            <a:r>
              <a:t>・需要増でも「掘って増産」は不可能</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3. 未回収損失</a:t>
            </a:r>
          </a:p>
          <a:p>
            <a:pPr>
              <a:spcBef>
                <a:spcPts val="1000"/>
              </a:spcBef>
              <a:defRPr sz="1100">
                <a:solidFill>
                  <a:srgbClr val="1E293B"/>
                </a:solidFill>
                <a:latin typeface="Noto Sans JP"/>
              </a:defRPr>
            </a:pPr>
            <a:r>
              <a:t>年間 700〜1,000 トンが海へ流出（当社推計）</a:t>
            </a:r>
            <a:br/>
            <a:r>
              <a:t>（約60〜86億円相当・当社推計）</a:t>
            </a:r>
            <a:br/>
            <a:br/>
            <a:r>
              <a:t>・排かん水中に1〜50ppmが残存</a:t>
            </a:r>
            <a:br/>
            <a:r>
              <a:t>・大流量・希薄なため既存法は採算割れ</a:t>
            </a:r>
            <a:br/>
            <a:r>
              <a:t>・「揚水を増やさない増産」が唯一の解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操業リスクゼロで、揚水を増やさずに純増利益を生む</a:t>
            </a:r>
          </a:p>
          <a:p>
            <a:pPr>
              <a:spcBef>
                <a:spcPts val="300"/>
              </a:spcBef>
              <a:defRPr sz="1300" b="1">
                <a:solidFill>
                  <a:srgbClr val="00A896"/>
                </a:solidFill>
                <a:latin typeface="Noto Sans JP"/>
              </a:defRPr>
            </a:pPr>
            <a:r>
              <a:t>既存ラインを止めない側流ボルトオン設置（分岐比3.5〜6.8%）</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① 揚水ゼロの純増産</a:t>
            </a:r>
          </a:p>
          <a:p>
            <a:pPr>
              <a:spcBef>
                <a:spcPts val="1000"/>
              </a:spcBef>
              <a:defRPr sz="1100">
                <a:solidFill>
                  <a:srgbClr val="1E293B"/>
                </a:solidFill>
                <a:latin typeface="Noto Sans JP"/>
              </a:defRPr>
            </a:pPr>
            <a:r>
              <a:t>既存排水の歩留まり向上</a:t>
            </a:r>
            <a:br/>
            <a:br/>
            <a:r>
              <a:t>・新規井戸掘削なし・環境負荷ゼロ</a:t>
            </a:r>
            <a:br/>
            <a:r>
              <a:t>・既存排水からヨウ素を回収</a:t>
            </a:r>
            <a:br/>
            <a:r>
              <a:t>・回収ヨウ素は全量顧客帰属</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② 操業リスクゼロ</a:t>
            </a:r>
          </a:p>
          <a:p>
            <a:pPr>
              <a:spcBef>
                <a:spcPts val="1000"/>
              </a:spcBef>
              <a:defRPr sz="1100">
                <a:solidFill>
                  <a:srgbClr val="1E293B"/>
                </a:solidFill>
                <a:latin typeface="Noto Sans JP"/>
              </a:defRPr>
            </a:pPr>
            <a:r>
              <a:t>ボルトオン側流バイパス設置</a:t>
            </a:r>
            <a:br/>
            <a:br/>
            <a:r>
              <a:t>・本流（4,000〜5,000 m³/日）を止めない</a:t>
            </a:r>
            <a:br/>
            <a:r>
              <a:t>・側流（200〜500 m³/日）のみ処理</a:t>
            </a:r>
            <a:br/>
            <a:r>
              <a:t>・プラント本体への操業影響ゼロ</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③ 確固たる経済性</a:t>
            </a:r>
          </a:p>
          <a:p>
            <a:pPr>
              <a:spcBef>
                <a:spcPts val="1000"/>
              </a:spcBef>
              <a:defRPr sz="1100">
                <a:solidFill>
                  <a:srgbClr val="1E293B"/>
                </a:solidFill>
                <a:latin typeface="Noto Sans JP"/>
              </a:defRPr>
            </a:pPr>
            <a:r>
              <a:t>1拠点あたり純増粗利</a:t>
            </a:r>
            <a:br/>
            <a:r>
              <a:t>＋3,436.9万円 / 年</a:t>
            </a:r>
            <a:br/>
            <a:br/>
            <a:r>
              <a:t>・粗利率 67.6%</a:t>
            </a:r>
            <a:br/>
            <a:r>
              <a:t>・投資回収期間 2.33年</a:t>
            </a:r>
            <a:br/>
            <a:r>
              <a:t>（中小企業税制優遇活用時 約1.6年）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温度応答性高分子による『側流ボルトオン分離』</a:t>
            </a:r>
          </a:p>
          <a:p>
            <a:pPr>
              <a:spcBef>
                <a:spcPts val="300"/>
              </a:spcBef>
              <a:defRPr sz="1300" b="1">
                <a:solidFill>
                  <a:srgbClr val="00A896"/>
                </a:solidFill>
                <a:latin typeface="Noto Sans JP"/>
              </a:defRPr>
            </a:pPr>
            <a:r>
              <a:t>低品位廃熱（約40℃）の活用を設計目標とするLCST相分離。主分離工程は薬剤・溶媒を使わない設計</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① 水中接触</a:t>
            </a:r>
          </a:p>
          <a:p>
            <a:pPr>
              <a:spcBef>
                <a:spcPts val="600"/>
              </a:spcBef>
              <a:defRPr sz="1000">
                <a:solidFill>
                  <a:srgbClr val="1E293B"/>
                </a:solidFill>
                <a:latin typeface="Noto Sans JP"/>
              </a:defRPr>
            </a:pPr>
            <a:r>
              <a:t>水中で高分子とヨウ素が直接接触</a:t>
            </a:r>
            <a:br/>
            <a:r>
              <a:t>（固定担体の通水圧損ゼロ）</a:t>
            </a:r>
          </a:p>
        </p:txBody>
      </p:sp>
      <p:sp>
        <p:nvSpPr>
          <p:cNvPr id="7" name="Rounded Rectangle 6"/>
          <p:cNvSpPr/>
          <p:nvPr/>
        </p:nvSpPr>
        <p:spPr>
          <a:xfrm>
            <a:off x="34747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② 廃熱相分離</a:t>
            </a:r>
          </a:p>
          <a:p>
            <a:pPr>
              <a:spcBef>
                <a:spcPts val="600"/>
              </a:spcBef>
              <a:defRPr sz="1000">
                <a:solidFill>
                  <a:srgbClr val="1E293B"/>
                </a:solidFill>
                <a:latin typeface="Noto Sans JP"/>
              </a:defRPr>
            </a:pPr>
            <a:r>
              <a:t>約40℃で自発凝集（熱源は工場廃熱を想定）</a:t>
            </a:r>
            <a:br/>
            <a:r>
              <a:t>（液-液急速分離サイクロン）</a:t>
            </a:r>
          </a:p>
        </p:txBody>
      </p:sp>
      <p:sp>
        <p:nvSpPr>
          <p:cNvPr id="8" name="Rounded Rectangle 7"/>
          <p:cNvSpPr/>
          <p:nvPr/>
        </p:nvSpPr>
        <p:spPr>
          <a:xfrm>
            <a:off x="62179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③ 冷却脱着</a:t>
            </a:r>
          </a:p>
          <a:p>
            <a:pPr>
              <a:spcBef>
                <a:spcPts val="600"/>
              </a:spcBef>
              <a:defRPr sz="1000">
                <a:solidFill>
                  <a:srgbClr val="1E293B"/>
                </a:solidFill>
                <a:latin typeface="Noto Sans JP"/>
              </a:defRPr>
            </a:pPr>
            <a:r>
              <a:t>冷却によりヨウ素を高濃度回収</a:t>
            </a:r>
            <a:br/>
            <a:r>
              <a:t>（外部試薬・有機溶媒を使わない設計）</a:t>
            </a:r>
          </a:p>
        </p:txBody>
      </p:sp>
      <p:sp>
        <p:nvSpPr>
          <p:cNvPr id="9" name="Rounded Rectangle 8"/>
          <p:cNvSpPr/>
          <p:nvPr/>
        </p:nvSpPr>
        <p:spPr>
          <a:xfrm>
            <a:off x="8961120" y="1325880"/>
            <a:ext cx="2514600" cy="19202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200" b="1">
                <a:solidFill>
                  <a:srgbClr val="071E2F"/>
                </a:solidFill>
                <a:latin typeface="Noto Sans JP"/>
              </a:defRPr>
            </a:pPr>
            <a:r>
              <a:t>④ 再循環</a:t>
            </a:r>
          </a:p>
          <a:p>
            <a:pPr>
              <a:spcBef>
                <a:spcPts val="600"/>
              </a:spcBef>
              <a:defRPr sz="1000">
                <a:solidFill>
                  <a:srgbClr val="1E293B"/>
                </a:solidFill>
                <a:latin typeface="Noto Sans JP"/>
              </a:defRPr>
            </a:pPr>
            <a:r>
              <a:t>再生ポリマーを再度プロセスへ</a:t>
            </a:r>
            <a:br/>
            <a:r>
              <a:t>（現状の回収損失 約30%・低損失化を本課題で検証）</a:t>
            </a:r>
          </a:p>
        </p:txBody>
      </p:sp>
      <p:sp>
        <p:nvSpPr>
          <p:cNvPr id="10" name="Rounded Rectangle 9"/>
          <p:cNvSpPr/>
          <p:nvPr/>
        </p:nvSpPr>
        <p:spPr>
          <a:xfrm>
            <a:off x="731520" y="3429000"/>
            <a:ext cx="10725912" cy="260604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300" b="1">
                <a:solidFill>
                  <a:srgbClr val="1D4ED8"/>
                </a:solidFill>
                <a:latin typeface="Noto Sans JP"/>
              </a:defRPr>
            </a:pPr>
            <a:r>
              <a:t>【基礎実測データ 🟦 FACT】＆【工学アナロジー（説明のための類推）】</a:t>
            </a:r>
          </a:p>
          <a:p>
            <a:pPr>
              <a:spcBef>
                <a:spcPts val="600"/>
              </a:spcBef>
              <a:defRPr sz="1100">
                <a:solidFill>
                  <a:srgbClr val="071E2F"/>
                </a:solidFill>
                <a:latin typeface="Noto Sans JP"/>
              </a:defRPr>
            </a:pPr>
            <a:r>
              <a:t>▶ 希薄水系（7 ppm）：96.8% 捕捉実証（TRL3・同志社大実測） ｜ ヘキサン中：新規ポリマー 91.4% vs 汎用PVP 73.9%</a:t>
            </a:r>
            <a:br/>
            <a:r>
              <a:t>1. 湿式製錬（SX-EW）     ：固定吸着材を使わないインライン混合 ➔ 液-液急速相分離</a:t>
            </a:r>
            <a:br/>
            <a:r>
              <a:t>2. 人工心肺シャント        ：本流（4,000〜5,000 m³/日）を止めず、側流（200〜500 m³/日）のみバイパス処理</a:t>
            </a:r>
            <a:br/>
            <a:r>
              <a:t>3. ターボチャージャー      ：工場の未利用低品位廃熱（約40℃）の回収動力化を設計目標とする</a:t>
            </a:r>
            <a:br/>
            <a:r>
              <a:t>4. Point-of-Use局所モジュール：既設プラント（放散塔・樹脂塔排液ライン）へ後付け導入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自走する3層収益構造 ＆ 分割委託（Split-CDMO）</a:t>
            </a:r>
          </a:p>
          <a:p>
            <a:pPr>
              <a:spcBef>
                <a:spcPts val="300"/>
              </a:spcBef>
              <a:defRPr sz="1300" b="1">
                <a:solidFill>
                  <a:srgbClr val="00A896"/>
                </a:solidFill>
                <a:latin typeface="Noto Sans JP"/>
              </a:defRPr>
            </a:pPr>
            <a:r>
              <a:t>CapExを自社B/Sに載せず、国内化学サプライチェーンと共創するAsset-Light量産体制</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1D4ED8"/>
                </a:solidFill>
                <a:latin typeface="Noto Sans JP"/>
              </a:defRPr>
            </a:pPr>
            <a:r>
              <a:t>【収益モデル3層】 顧客増産に連動してスケール</a:t>
            </a:r>
          </a:p>
          <a:p>
            <a:pPr>
              <a:spcBef>
                <a:spcPts val="800"/>
              </a:spcBef>
              <a:defRPr sz="1100">
                <a:solidFill>
                  <a:srgbClr val="1E293B"/>
                </a:solidFill>
                <a:latin typeface="Noto Sans JP"/>
              </a:defRPr>
            </a:pPr>
            <a:r>
              <a:t>■ 第1層：装置販売（イニシャル）</a:t>
            </a:r>
            <a:br/>
            <a:r>
              <a:t>・8,000万円 / 基（顧客保有・当社ファブレス）</a:t>
            </a:r>
            <a:br/>
            <a:br/>
            <a:r>
              <a:t>■ 第2層：消耗品供給（ストック）</a:t>
            </a:r>
            <a:br/>
            <a:r>
              <a:t>・847万円 / 拠点・年（専用ポリマー定期購入）</a:t>
            </a:r>
            <a:br/>
            <a:br/>
            <a:r>
              <a:t>■ 第3層：回収量連動プロセス利用料（従量課金）</a:t>
            </a:r>
            <a:br/>
            <a:r>
              <a:t>・1,717円 / kg-I₂（回収量に連動するプロセス利用料）</a:t>
            </a:r>
            <a:br/>
            <a:br/>
            <a:r>
              <a:t>■ FY2030目標（5拠点導入ベース）</a:t>
            </a:r>
            <a:br/>
            <a:r>
              <a:t>・売上高 2.39億円 ｜ 営業利益 +4,763万円（黒字化）</a:t>
            </a:r>
          </a:p>
        </p:txBody>
      </p:sp>
      <p:sp>
        <p:nvSpPr>
          <p:cNvPr id="7" name="Rounded Rectangle 6"/>
          <p:cNvSpPr/>
          <p:nvPr/>
        </p:nvSpPr>
        <p:spPr>
          <a:xfrm>
            <a:off x="6245352" y="1325880"/>
            <a:ext cx="5212080"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50" b="1">
                <a:solidFill>
                  <a:srgbClr val="00A896"/>
                </a:solidFill>
                <a:latin typeface="Noto Sans JP"/>
              </a:defRPr>
            </a:pPr>
            <a:r>
              <a:t>【製造体制：Split-CDMO構想】</a:t>
            </a:r>
          </a:p>
          <a:p>
            <a:pPr>
              <a:spcBef>
                <a:spcPts val="800"/>
              </a:spcBef>
              <a:defRPr sz="1100">
                <a:solidFill>
                  <a:srgbClr val="1E293B"/>
                </a:solidFill>
                <a:latin typeface="Noto Sans JP"/>
              </a:defRPr>
            </a:pPr>
            <a:r>
              <a:t>■ 前段：モノマー合成（汎用OEM委託）</a:t>
            </a:r>
            <a:br/>
            <a:r>
              <a:t>・汎用的な有機合成設備・バッチ反応釜で対応</a:t>
            </a:r>
            <a:br/>
            <a:r>
              <a:t>・用途や最終ポリマー構造を開示せずに発注可能</a:t>
            </a:r>
            <a:br/>
            <a:br/>
            <a:r>
              <a:t>■ 後段：精密重合・粉体化（専業高分子CDMO委託）</a:t>
            </a:r>
            <a:br/>
            <a:r>
              <a:t>・制御ラジカル重合による分子量分布（PDI）制御</a:t>
            </a:r>
            <a:br/>
            <a:r>
              <a:t>・相転移温度（LCST）の受入規格管理</a:t>
            </a:r>
            <a:br/>
            <a:br/>
            <a:r>
              <a:t>■ 装置モジュール製作：試作メーカー（安久工機等と調整）</a:t>
            </a:r>
            <a:br/>
            <a:br/>
            <a:r>
              <a:t>★ 戦略的意義：ノウハウ流出を防ぎつつ、自社工場を持たない高い資本効率（Asset-Light）でスケール。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国内ビーチヘッドから、北米随伴水・世界の未利用資源へ</a:t>
            </a:r>
          </a:p>
          <a:p>
            <a:pPr>
              <a:spcBef>
                <a:spcPts val="300"/>
              </a:spcBef>
              <a:defRPr sz="1300" b="1">
                <a:solidFill>
                  <a:srgbClr val="00A896"/>
                </a:solidFill>
                <a:latin typeface="Noto Sans JP"/>
              </a:defRPr>
            </a:pPr>
            <a:r>
              <a:t>国内で確立したユニット経済性と運転データを、同型の資源が存在する市場へ移す</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3410712" cy="4709160"/>
          </a:xfrm>
          <a:prstGeom prst="roundRect">
            <a:avLst/>
          </a:prstGeom>
          <a:solidFill>
            <a:srgbClr val="F8FAFC"/>
          </a:solidFill>
          <a:ln w="19050">
            <a:solidFill>
              <a:srgbClr val="071E2F"/>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71E2F"/>
                </a:solidFill>
                <a:latin typeface="Noto Sans JP"/>
              </a:defRPr>
            </a:pPr>
            <a:r>
              <a:t>Phase 1｜千葉モデル確立</a:t>
            </a:r>
          </a:p>
          <a:p>
            <a:pPr>
              <a:spcBef>
                <a:spcPts val="400"/>
              </a:spcBef>
              <a:defRPr sz="1100" b="1">
                <a:solidFill>
                  <a:srgbClr val="00A896"/>
                </a:solidFill>
                <a:latin typeface="Noto Sans JP"/>
              </a:defRPr>
            </a:pPr>
            <a:r>
              <a:t>【対象】：国内排かん水（千葉・南関東ガス田）</a:t>
            </a:r>
          </a:p>
          <a:p>
            <a:pPr>
              <a:spcBef>
                <a:spcPts val="1000"/>
              </a:spcBef>
              <a:defRPr sz="1050">
                <a:solidFill>
                  <a:srgbClr val="1E293B"/>
                </a:solidFill>
                <a:latin typeface="Noto Sans JP"/>
              </a:defRPr>
            </a:pPr>
            <a:r>
              <a:t>・県内主要プラントへ側流ボルトオン導入</a:t>
            </a:r>
            <a:br/>
            <a:r>
              <a:t>・追加揚水ゼロでの国産重要資源増産</a:t>
            </a:r>
            <a:br/>
            <a:r>
              <a:t>・地域資源循環と脱炭素の先行モデル</a:t>
            </a:r>
          </a:p>
        </p:txBody>
      </p:sp>
      <p:sp>
        <p:nvSpPr>
          <p:cNvPr id="7" name="Rounded Rectangle 6"/>
          <p:cNvSpPr/>
          <p:nvPr/>
        </p:nvSpPr>
        <p:spPr>
          <a:xfrm>
            <a:off x="4389120" y="1325880"/>
            <a:ext cx="3410712" cy="47091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1D4ED8"/>
                </a:solidFill>
                <a:latin typeface="Noto Sans JP"/>
              </a:defRPr>
            </a:pPr>
            <a:r>
              <a:t>Phase 2｜次世代GX廃液</a:t>
            </a:r>
          </a:p>
          <a:p>
            <a:pPr>
              <a:spcBef>
                <a:spcPts val="400"/>
              </a:spcBef>
              <a:defRPr sz="1100" b="1">
                <a:solidFill>
                  <a:srgbClr val="00A896"/>
                </a:solidFill>
                <a:latin typeface="Noto Sans JP"/>
              </a:defRPr>
            </a:pPr>
            <a:r>
              <a:t>【対象】：ペロブスカイト・半導体</a:t>
            </a:r>
          </a:p>
          <a:p>
            <a:pPr>
              <a:spcBef>
                <a:spcPts val="1000"/>
              </a:spcBef>
              <a:defRPr sz="1050">
                <a:solidFill>
                  <a:srgbClr val="1E293B"/>
                </a:solidFill>
                <a:latin typeface="Noto Sans JP"/>
              </a:defRPr>
            </a:pPr>
            <a:r>
              <a:t>・ペロブスカイト太陽電池（PbI₂）廃液</a:t>
            </a:r>
            <a:br/>
            <a:r>
              <a:t>・半導体エッチングガス（CF₃I）廃液</a:t>
            </a:r>
            <a:br/>
            <a:r>
              <a:t>・高純度・国産属性の付加価値向上</a:t>
            </a:r>
          </a:p>
        </p:txBody>
      </p:sp>
      <p:sp>
        <p:nvSpPr>
          <p:cNvPr id="8" name="Rounded Rectangle 7"/>
          <p:cNvSpPr/>
          <p:nvPr/>
        </p:nvSpPr>
        <p:spPr>
          <a:xfrm>
            <a:off x="8046720" y="1325880"/>
            <a:ext cx="3410712" cy="470916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300" b="1">
                <a:solidFill>
                  <a:srgbClr val="00A896"/>
                </a:solidFill>
                <a:latin typeface="Noto Sans JP"/>
              </a:defRPr>
            </a:pPr>
            <a:r>
              <a:t>Phase 3｜グローバル展開</a:t>
            </a:r>
          </a:p>
          <a:p>
            <a:pPr>
              <a:spcBef>
                <a:spcPts val="400"/>
              </a:spcBef>
              <a:defRPr sz="1100" b="1">
                <a:solidFill>
                  <a:srgbClr val="00A896"/>
                </a:solidFill>
                <a:latin typeface="Noto Sans JP"/>
              </a:defRPr>
            </a:pPr>
            <a:r>
              <a:t>【対象】：北米・東南アジア随伴水</a:t>
            </a:r>
          </a:p>
          <a:p>
            <a:pPr>
              <a:spcBef>
                <a:spcPts val="1000"/>
              </a:spcBef>
              <a:defRPr sz="1050">
                <a:solidFill>
                  <a:srgbClr val="1E293B"/>
                </a:solidFill>
                <a:latin typeface="Noto Sans JP"/>
              </a:defRPr>
            </a:pPr>
            <a:r>
              <a:t>・北米油ガス田随伴水FS（JST D-Global）</a:t>
            </a:r>
            <a:br/>
            <a:r>
              <a:t>・東南アジア地熱水・産業廃水展開</a:t>
            </a:r>
            <a:br/>
            <a:r>
              <a:t>・リバネス海外ネットワークとの共創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国内大手との検証進捗 ＆ 客観的撤退規律（TRL4）</a:t>
            </a:r>
          </a:p>
          <a:p>
            <a:pPr>
              <a:spcBef>
                <a:spcPts val="300"/>
              </a:spcBef>
              <a:defRPr sz="1300" b="1">
                <a:solidFill>
                  <a:srgbClr val="00A896"/>
                </a:solidFill>
                <a:latin typeface="Noto Sans JP"/>
              </a:defRPr>
            </a:pPr>
            <a:r>
              <a:t>不確実性を隠さず、事前に公開した定量的基準でGo/No-Goを冷徹に判定</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470916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D4ED8"/>
                </a:solidFill>
                <a:latin typeface="Noto Sans JP"/>
              </a:defRPr>
            </a:pPr>
            <a:r>
              <a:t>【顧客トラクション ＆ 知財防壁】 🟦 FACT</a:t>
            </a:r>
          </a:p>
          <a:p>
            <a:pPr>
              <a:spcBef>
                <a:spcPts val="800"/>
              </a:spcBef>
              <a:defRPr sz="1100">
                <a:solidFill>
                  <a:srgbClr val="071E2F"/>
                </a:solidFill>
                <a:latin typeface="Noto Sans JP"/>
              </a:defRPr>
            </a:pPr>
            <a:r>
              <a:t>■ 国内主要生産者 A社</a:t>
            </a:r>
            <a:br/>
            <a:r>
              <a:t>・実廃水サンプルの提供に合意済 🟦</a:t>
            </a:r>
            <a:br/>
            <a:r>
              <a:t>・9月1日 実プラント訪問時に受領予定</a:t>
            </a:r>
            <a:br/>
            <a:br/>
            <a:r>
              <a:t>■ 国内主要生産者 B社</a:t>
            </a:r>
            <a:br/>
            <a:r>
              <a:t>・8月27日 初回技術協議（実液サンプル提供合意）</a:t>
            </a:r>
            <a:br/>
            <a:br/>
            <a:r>
              <a:t>■ 7層の知財防壁（IP Moat）</a:t>
            </a:r>
            <a:br/>
            <a:r>
              <a:t>・応用特許①（資源回収用途）10月共同出願予定</a:t>
            </a:r>
            <a:br/>
            <a:r>
              <a:t>・持分：加藤 3 ： 同志社大学 7（特許法73条3項の拒否権確保）</a:t>
            </a:r>
            <a:br/>
            <a:r>
              <a:t>・基本特許（特開2025-76683）の回避設計確認済</a:t>
            </a:r>
          </a:p>
        </p:txBody>
      </p:sp>
      <p:sp>
        <p:nvSpPr>
          <p:cNvPr id="7" name="Rounded Rectangle 6"/>
          <p:cNvSpPr/>
          <p:nvPr/>
        </p:nvSpPr>
        <p:spPr>
          <a:xfrm>
            <a:off x="6245352" y="1325880"/>
            <a:ext cx="5212080" cy="470916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D97706"/>
                </a:solidFill>
                <a:latin typeface="Noto Sans JP"/>
              </a:defRPr>
            </a:pPr>
            <a:r>
              <a:t>【9月末 TRL4判定規律】</a:t>
            </a:r>
          </a:p>
          <a:p>
            <a:pPr>
              <a:spcBef>
                <a:spcPts val="800"/>
              </a:spcBef>
              <a:defRPr sz="1100">
                <a:solidFill>
                  <a:srgbClr val="1E293B"/>
                </a:solidFill>
                <a:latin typeface="Noto Sans JP"/>
              </a:defRPr>
            </a:pPr>
            <a:r>
              <a:t>・判定指標：吸着容量 q × 再利用回数 R の積</a:t>
            </a:r>
            <a:br/>
            <a:r>
              <a:t>・R実測：1サイクル79.4%（要因判別中）</a:t>
            </a:r>
            <a:br/>
            <a:br/>
            <a:r>
              <a:t>■ Plan A（満額Go）：q × R ≧ 10</a:t>
            </a:r>
            <a:br/>
            <a:r>
              <a:t>➔ 商用ベンチ機開発へ移行、シード調達クロージング</a:t>
            </a:r>
            <a:br/>
            <a:br/>
            <a:r>
              <a:t>■ Plan B-1（条件付Go）：3.40 ≦ q × R &lt; 10</a:t>
            </a:r>
            <a:br/>
            <a:r>
              <a:t>➔ 処理量拡大または消耗品特化モデルへ移行して継続</a:t>
            </a:r>
            <a:br/>
            <a:br/>
            <a:r>
              <a:t>■ Plan B-2（大幅転換）：2.39 ≦ q × R &lt; 3.40</a:t>
            </a:r>
            <a:br/>
            <a:r>
              <a:t>➔ 自社製造を停止しライセンス型へ特化</a:t>
            </a:r>
            <a:br/>
            <a:br/>
            <a:r>
              <a:t>■ Plan C（撤退執行）：q × R &lt; 2.39</a:t>
            </a:r>
            <a:br/>
            <a:r>
              <a:t>➔ 単独事業化を停止し、知財協業・Exit協議へ移行</a:t>
            </a:r>
            <a:br/>
            <a:br/>
            <a:r>
              <a:t>★ 実測前に投資家・支援機関へ基準を開示済み。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haseShift_Official_Logo.png"/>
          <p:cNvPicPr>
            <a:picLocks noChangeAspect="1"/>
          </p:cNvPicPr>
          <p:nvPr/>
        </p:nvPicPr>
        <p:blipFill>
          <a:blip r:embed="rId2"/>
          <a:stretch>
            <a:fillRect/>
          </a:stretch>
        </p:blipFill>
        <p:spPr>
          <a:xfrm>
            <a:off x="9326880" y="320040"/>
            <a:ext cx="2286000" cy="983848"/>
          </a:xfrm>
          <a:prstGeom prst="rect">
            <a:avLst/>
          </a:prstGeom>
        </p:spPr>
      </p:pic>
      <p:sp>
        <p:nvSpPr>
          <p:cNvPr id="3" name="TextBox 2"/>
          <p:cNvSpPr txBox="1"/>
          <p:nvPr/>
        </p:nvSpPr>
        <p:spPr>
          <a:xfrm>
            <a:off x="731520" y="365760"/>
            <a:ext cx="8412480" cy="822960"/>
          </a:xfrm>
          <a:prstGeom prst="rect">
            <a:avLst/>
          </a:prstGeom>
          <a:noFill/>
        </p:spPr>
        <p:txBody>
          <a:bodyPr wrap="square" lIns="0" tIns="0" rIns="0" bIns="0">
            <a:spAutoFit/>
          </a:bodyPr>
          <a:lstStyle/>
          <a:p>
            <a:pPr>
              <a:defRPr sz="2200" b="1">
                <a:solidFill>
                  <a:srgbClr val="071E2F"/>
                </a:solidFill>
                <a:latin typeface="Noto Sans JP"/>
              </a:defRPr>
            </a:pPr>
            <a:r>
              <a:t>市場を創る起業家 × 技術を創った研究者</a:t>
            </a:r>
          </a:p>
          <a:p>
            <a:pPr>
              <a:spcBef>
                <a:spcPts val="300"/>
              </a:spcBef>
              <a:defRPr sz="1300" b="1">
                <a:solidFill>
                  <a:srgbClr val="00A896"/>
                </a:solidFill>
                <a:latin typeface="Noto Sans JP"/>
              </a:defRPr>
            </a:pPr>
            <a:r>
              <a:t>日本の知恵と技術で、世界の資源循環を拓く</a:t>
            </a:r>
          </a:p>
        </p:txBody>
      </p:sp>
      <p:sp>
        <p:nvSpPr>
          <p:cNvPr id="4" name="Rectangle 3"/>
          <p:cNvSpPr/>
          <p:nvPr/>
        </p:nvSpPr>
        <p:spPr>
          <a:xfrm>
            <a:off x="731520" y="6263640"/>
            <a:ext cx="1072591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27648"/>
            <a:ext cx="10725912" cy="274320"/>
          </a:xfrm>
          <a:prstGeom prst="rect">
            <a:avLst/>
          </a:prstGeom>
          <a:noFill/>
        </p:spPr>
        <p:txBody>
          <a:bodyPr wrap="none">
            <a:spAutoFit/>
          </a:bodyPr>
          <a:lstStyle/>
          <a:p>
            <a:pPr>
              <a:defRPr sz="900">
                <a:solidFill>
                  <a:srgbClr val="64748B"/>
                </a:solidFill>
                <a:latin typeface="Inter"/>
              </a:defRPr>
            </a:pPr>
            <a:r>
              <a:t>PhaseShift Technologies — TIB STUDIO DEMO DAY 2026 | CONFIDENTIAL</a:t>
            </a:r>
          </a:p>
        </p:txBody>
      </p:sp>
      <p:sp>
        <p:nvSpPr>
          <p:cNvPr id="6" name="Rounded Rectangle 5"/>
          <p:cNvSpPr/>
          <p:nvPr/>
        </p:nvSpPr>
        <p:spPr>
          <a:xfrm>
            <a:off x="731520" y="1325880"/>
            <a:ext cx="5212080" cy="3291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71E2F"/>
                </a:solidFill>
                <a:latin typeface="Noto Sans JP"/>
              </a:defRPr>
            </a:pPr>
            <a:r>
              <a:t>【実行チーム ＆ 伴走支援】</a:t>
            </a:r>
          </a:p>
          <a:p>
            <a:pPr>
              <a:spcBef>
                <a:spcPts val="600"/>
              </a:spcBef>
              <a:defRPr sz="1050">
                <a:solidFill>
                  <a:srgbClr val="1E293B"/>
                </a:solidFill>
                <a:latin typeface="Noto Sans JP"/>
              </a:defRPr>
            </a:pPr>
            <a:r>
              <a:t>■ 代表：加藤 淳一（Founder / CEO）</a:t>
            </a:r>
            <a:br/>
            <a:r>
              <a:t>・連続起業家（5社創業、累計4.5億円調達、東南アジア統率）</a:t>
            </a:r>
            <a:br/>
            <a:r>
              <a:t>・東大松尾研AI経営講座修了 / NEDO SSA 9期</a:t>
            </a:r>
            <a:br/>
            <a:r>
              <a:t>・千葉県白子町 地域活性化起業人</a:t>
            </a:r>
            <a:br/>
            <a:br/>
            <a:r>
              <a:t>■ 技術アドバイザー：西村 慎之介 准教授</a:t>
            </a:r>
            <a:br/>
            <a:r>
              <a:t>・同志社大学 理工学部 機能分子・生命化学科</a:t>
            </a:r>
            <a:br/>
            <a:r>
              <a:t>・基盤技術発明者 / 第8回物質デバイス賞受賞</a:t>
            </a:r>
            <a:br/>
            <a:br/>
            <a:r>
              <a:t>■ 伴走：NEDO NEP開拓 / FASTAR / 都TIB / 千葉県 / ERCA</a:t>
            </a:r>
          </a:p>
        </p:txBody>
      </p:sp>
      <p:sp>
        <p:nvSpPr>
          <p:cNvPr id="7" name="Rounded Rectangle 6"/>
          <p:cNvSpPr/>
          <p:nvPr/>
        </p:nvSpPr>
        <p:spPr>
          <a:xfrm>
            <a:off x="6245352" y="1325880"/>
            <a:ext cx="5212080" cy="3291840"/>
          </a:xfrm>
          <a:prstGeom prst="roundRect">
            <a:avLst/>
          </a:prstGeom>
          <a:solidFill>
            <a:srgbClr val="F8FAFC"/>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300" b="1">
                <a:solidFill>
                  <a:srgbClr val="00A896"/>
                </a:solidFill>
                <a:latin typeface="Noto Sans JP"/>
              </a:defRPr>
            </a:pPr>
            <a:r>
              <a:t>【本日のご提案（THE ASK）】</a:t>
            </a:r>
          </a:p>
          <a:p>
            <a:pPr>
              <a:spcBef>
                <a:spcPts val="800"/>
              </a:spcBef>
              <a:defRPr sz="1100">
                <a:solidFill>
                  <a:srgbClr val="1E293B"/>
                </a:solidFill>
                <a:latin typeface="Noto Sans JP"/>
              </a:defRPr>
            </a:pPr>
            <a:r>
              <a:t>■ 投資家の皆様へ</a:t>
            </a:r>
            <a:br/>
            <a:r>
              <a:t>・二段J-KISS 計1.9億円</a:t>
            </a:r>
            <a:br/>
            <a:r>
              <a:t>・エンジェル7,000万円：TRL4実測データ条件付き事前協議受付中</a:t>
            </a:r>
            <a:br/>
            <a:br/>
            <a:r>
              <a:t>■ 事業会社の皆様へ</a:t>
            </a:r>
            <a:br/>
            <a:r>
              <a:t>・実廃水サンプル提供 ＆ 有償PoCパートナー募集</a:t>
            </a:r>
            <a:br/>
            <a:r>
              <a:t>・受託重合CDMO、耐食配管・熱交換器製作パートナー募集</a:t>
            </a:r>
          </a:p>
        </p:txBody>
      </p:sp>
      <p:sp>
        <p:nvSpPr>
          <p:cNvPr id="8" name="Rounded Rectangle 7"/>
          <p:cNvSpPr/>
          <p:nvPr/>
        </p:nvSpPr>
        <p:spPr>
          <a:xfrm>
            <a:off x="731520" y="4800600"/>
            <a:ext cx="10725912" cy="1325880"/>
          </a:xfrm>
          <a:prstGeom prst="roundRect">
            <a:avLst/>
          </a:prstGeom>
          <a:solidFill>
            <a:srgbClr val="071E2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sz="1500" b="1">
                <a:solidFill>
                  <a:srgbClr val="00B4D8"/>
                </a:solidFill>
                <a:latin typeface="Noto Sans JP"/>
              </a:defRPr>
            </a:pPr>
            <a:r>
              <a:t>「地球を新たに削ることなく、捨てられた流れから価値を取り戻す。」</a:t>
            </a:r>
          </a:p>
          <a:p>
            <a:pPr algn="ctr">
              <a:spcBef>
                <a:spcPts val="400"/>
              </a:spcBef>
              <a:defRPr sz="1250" b="1">
                <a:solidFill>
                  <a:srgbClr val="FFFFFF"/>
                </a:solidFill>
                <a:latin typeface="Noto Sans JP"/>
              </a:defRPr>
            </a:pPr>
            <a:r>
              <a:t>掘らない増産を、日本から。皆様との共創をお待ちしております。ご清聴ありがとうございました。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