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 Light"/>
      <p:regular r:id="rId14"/>
      <p:bold r:id="rId15"/>
      <p:italic r:id="rId16"/>
      <p:boldItalic r:id="rId17"/>
    </p:embeddedFont>
    <p:embeddedFont>
      <p:font typeface="Inter SemiBold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Inter Black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nterLight-regular.fntdata"/><Relationship Id="rId15" Type="http://schemas.openxmlformats.org/officeDocument/2006/relationships/font" Target="fonts/InterLight-bold.fntdata"/><Relationship Id="rId16" Type="http://schemas.openxmlformats.org/officeDocument/2006/relationships/font" Target="fonts/InterLight-italic.fntdata"/><Relationship Id="rId17" Type="http://schemas.openxmlformats.org/officeDocument/2006/relationships/font" Target="fonts/InterLight-boldItalic.fntdata"/><Relationship Id="rId18" Type="http://schemas.openxmlformats.org/officeDocument/2006/relationships/font" Target="fonts/InterSemiBold-regular.fntdata"/><Relationship Id="rId19" Type="http://schemas.openxmlformats.org/officeDocument/2006/relationships/font" Target="fonts/InterSemiBold-bold.fntdata"/><Relationship Id="rId20" Type="http://schemas.openxmlformats.org/officeDocument/2006/relationships/font" Target="fonts/InterSemiBold-italic.fntdata"/><Relationship Id="rId21" Type="http://schemas.openxmlformats.org/officeDocument/2006/relationships/font" Target="fonts/InterSemiBold-boldItalic.fntdata"/><Relationship Id="rId22" Type="http://schemas.openxmlformats.org/officeDocument/2006/relationships/font" Target="fonts/InterExtraBold-bold.fntdata"/><Relationship Id="rId23" Type="http://schemas.openxmlformats.org/officeDocument/2006/relationships/font" Target="fonts/InterExtraBold-boldItalic.fntdata"/><Relationship Id="rId24" Type="http://schemas.openxmlformats.org/officeDocument/2006/relationships/font" Target="fonts/InterBlack-bold.fntdata"/><Relationship Id="rId25" Type="http://schemas.openxmlformats.org/officeDocument/2006/relationships/font" Target="fonts/Inter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4404e77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4404e77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4404e77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84404e77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84404e77f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84404e77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4404e77f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4404e77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4404e77f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84404e77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4404e77f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84404e77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4404e77f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4404e77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4404e77f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84404e77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4404e77f_1_0)">
  <p:cSld name="Generated (g3f84404e77f_1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762000" y="15240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捨てられる排水が、</a:t>
            </a:r>
            <a:b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lang="ja" sz="3255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希少資源に変わる</a:t>
            </a:r>
            <a:endParaRPr b="0" sz="3255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ja" sz="155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〜大学発の独自分離素材による未回収ヨウ素の社会実装〜</a:t>
            </a:r>
            <a:endParaRPr b="1" sz="155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762000" y="3238500"/>
            <a:ext cx="5334000" cy="266700"/>
            <a:chOff x="0" y="0"/>
            <a:chExt cx="5334000" cy="266700"/>
          </a:xfrm>
        </p:grpSpPr>
        <p:grpSp>
          <p:nvGrpSpPr>
            <p:cNvPr id="61" name="Google Shape;61;p14"/>
            <p:cNvGrpSpPr/>
            <p:nvPr/>
          </p:nvGrpSpPr>
          <p:grpSpPr>
            <a:xfrm>
              <a:off x="0" y="0"/>
              <a:ext cx="1524000" cy="266700"/>
              <a:chOff x="0" y="0"/>
              <a:chExt cx="1524000" cy="266700"/>
            </a:xfrm>
          </p:grpSpPr>
          <p:sp>
            <p:nvSpPr>
              <p:cNvPr id="62" name="Google Shape;62;p14"/>
              <p:cNvSpPr/>
              <p:nvPr/>
            </p:nvSpPr>
            <p:spPr>
              <a:xfrm>
                <a:off x="0" y="0"/>
                <a:ext cx="15240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 txBox="1"/>
              <p:nvPr/>
            </p:nvSpPr>
            <p:spPr>
              <a:xfrm>
                <a:off x="0" y="0"/>
                <a:ext cx="1524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同志社大発・特許技術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4" name="Google Shape;64;p14"/>
            <p:cNvGrpSpPr/>
            <p:nvPr/>
          </p:nvGrpSpPr>
          <p:grpSpPr>
            <a:xfrm>
              <a:off x="1666875" y="0"/>
              <a:ext cx="1809600" cy="266700"/>
              <a:chOff x="0" y="0"/>
              <a:chExt cx="1809600" cy="2667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0" y="0"/>
                <a:ext cx="18096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14"/>
              <p:cNvSpPr txBox="1"/>
              <p:nvPr/>
            </p:nvSpPr>
            <p:spPr>
              <a:xfrm>
                <a:off x="0" y="0"/>
                <a:ext cx="18096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公的支援5層採択【FACT】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7" name="Google Shape;67;p14"/>
            <p:cNvGrpSpPr/>
            <p:nvPr/>
          </p:nvGrpSpPr>
          <p:grpSpPr>
            <a:xfrm>
              <a:off x="3619500" y="0"/>
              <a:ext cx="1714500" cy="266700"/>
              <a:chOff x="0" y="0"/>
              <a:chExt cx="1714500" cy="266700"/>
            </a:xfrm>
          </p:grpSpPr>
          <p:sp>
            <p:nvSpPr>
              <p:cNvPr id="68" name="Google Shape;68;p14"/>
              <p:cNvSpPr/>
              <p:nvPr/>
            </p:nvSpPr>
            <p:spPr>
              <a:xfrm>
                <a:off x="0" y="0"/>
                <a:ext cx="17145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00A89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4"/>
              <p:cNvSpPr txBox="1"/>
              <p:nvPr/>
            </p:nvSpPr>
            <p:spPr>
              <a:xfrm>
                <a:off x="0" y="0"/>
                <a:ext cx="1714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00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大手2社 サンプル合意・協議</a:t>
                </a:r>
                <a:endParaRPr b="0" sz="900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70" name="Google Shape;70;p14"/>
          <p:cNvSpPr txBox="1"/>
          <p:nvPr/>
        </p:nvSpPr>
        <p:spPr>
          <a:xfrm>
            <a:off x="762000" y="38100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48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PhaseShift Technologies（設立準備中） 代表 加藤 淳一</a:t>
            </a:r>
            <a:endParaRPr b="0" sz="148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ja" sz="1203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同志社大学発スタートアップ</a:t>
            </a:r>
            <a:endParaRPr b="1" sz="1203">
              <a:solidFill>
                <a:srgbClr val="00A89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3429000" y="4572000"/>
            <a:ext cx="2286000" cy="304800"/>
            <a:chOff x="0" y="0"/>
            <a:chExt cx="2286000" cy="304800"/>
          </a:xfrm>
        </p:grpSpPr>
        <p:sp>
          <p:nvSpPr>
            <p:cNvPr id="72" name="Google Shape;72;p14"/>
            <p:cNvSpPr/>
            <p:nvPr/>
          </p:nvSpPr>
          <p:spPr>
            <a:xfrm>
              <a:off x="0" y="0"/>
              <a:ext cx="22860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0"/>
              <a:ext cx="2286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74" name="Picture 73" descr="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1501739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838200" y="533400"/>
            <a:ext cx="3209925" cy="381000"/>
            <a:chOff x="76200" y="57150"/>
            <a:chExt cx="3209925" cy="381000"/>
          </a:xfrm>
        </p:grpSpPr>
        <p:sp>
          <p:nvSpPr>
            <p:cNvPr id="79" name="Google Shape;79;p15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82" name="Google Shape;82;p15"/>
          <p:cNvSpPr txBox="1"/>
          <p:nvPr/>
        </p:nvSpPr>
        <p:spPr>
          <a:xfrm>
            <a:off x="762000" y="1095375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770">
                <a:solidFill>
                  <a:srgbClr val="00A89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 01</a:t>
            </a:r>
            <a:endParaRPr b="0" sz="770">
              <a:solidFill>
                <a:srgbClr val="00A89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ja" sz="23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井戸は掘れず、年間60〜86億円のヨウ素が海へ流出している</a:t>
            </a:r>
            <a:endParaRPr b="0" sz="23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>
            <a:off x="762000" y="2190750"/>
            <a:ext cx="4762500" cy="1714500"/>
            <a:chOff x="0" y="0"/>
            <a:chExt cx="4762500" cy="1714500"/>
          </a:xfrm>
        </p:grpSpPr>
        <p:sp>
          <p:nvSpPr>
            <p:cNvPr id="84" name="Google Shape;84;p15"/>
            <p:cNvSpPr/>
            <p:nvPr/>
          </p:nvSpPr>
          <p:spPr>
            <a:xfrm>
              <a:off x="0" y="0"/>
              <a:ext cx="571500" cy="573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0" y="190500"/>
              <a:ext cx="4762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955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60-86</a:t>
              </a:r>
              <a:r>
                <a:rPr b="0" lang="ja" sz="3885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 億円</a:t>
              </a:r>
              <a:endParaRPr b="0" sz="7955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5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Annual Economic Loss</a:t>
              </a:r>
              <a:endParaRPr b="1" sz="185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86" name="Google Shape;86;p15"/>
          <p:cNvSpPr txBox="1"/>
          <p:nvPr/>
        </p:nvSpPr>
        <p:spPr>
          <a:xfrm>
            <a:off x="5334000" y="2381250"/>
            <a:ext cx="3048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8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rPr>
              <a:t>700-1,000</a:t>
            </a:r>
            <a:r>
              <a:rPr b="0" lang="ja" sz="20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rPr>
              <a:t> トン</a:t>
            </a:r>
            <a:endParaRPr b="0" sz="3800">
              <a:solidFill>
                <a:srgbClr val="FF6B6B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4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未回収流出量 (年間)</a:t>
            </a:r>
            <a:endParaRPr b="1" sz="14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87" name="Google Shape;87;p15"/>
          <p:cNvGrpSpPr/>
          <p:nvPr/>
        </p:nvGrpSpPr>
        <p:grpSpPr>
          <a:xfrm>
            <a:off x="762000" y="4000500"/>
            <a:ext cx="4572000" cy="381000"/>
            <a:chOff x="0" y="0"/>
            <a:chExt cx="4572000" cy="3810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4572000" cy="381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42875" y="0"/>
              <a:ext cx="428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1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【新規採掘 不可】</a:t>
              </a:r>
              <a:r>
                <a:rPr b="1" lang="ja" sz="11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地盤沈下防止協定による揚水制限が成長を阻む</a:t>
              </a:r>
              <a:endParaRPr b="1" sz="11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90" name="Google Shape;90;p15"/>
          <p:cNvSpPr txBox="1"/>
          <p:nvPr/>
        </p:nvSpPr>
        <p:spPr>
          <a:xfrm>
            <a:off x="5334000" y="40005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11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CUSTOMER</a:t>
            </a:r>
            <a:endParaRPr b="0" sz="1100">
              <a:solidFill>
                <a:srgbClr val="1E3A5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ヨウ素生産プラント事業者</a:t>
            </a:r>
            <a:endParaRPr b="1" sz="12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91" name="Google Shape;91;p15"/>
          <p:cNvGrpSpPr/>
          <p:nvPr/>
        </p:nvGrpSpPr>
        <p:grpSpPr>
          <a:xfrm>
            <a:off x="6477000" y="4476750"/>
            <a:ext cx="2095500" cy="304800"/>
            <a:chOff x="0" y="0"/>
            <a:chExt cx="2095500" cy="3048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94" name="Google Shape;94;p15"/>
          <p:cNvSpPr/>
          <p:nvPr/>
        </p:nvSpPr>
        <p:spPr>
          <a:xfrm>
            <a:off x="7810500" y="1619250"/>
            <a:ext cx="1905000" cy="1905000"/>
          </a:xfrm>
          <a:prstGeom prst="ellipse">
            <a:avLst/>
          </a:prstGeom>
          <a:solidFill>
            <a:srgbClr val="00A896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100" name="Google Shape;100;p16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03" name="Google Shape;103;p16"/>
          <p:cNvSpPr txBox="1"/>
          <p:nvPr/>
        </p:nvSpPr>
        <p:spPr>
          <a:xfrm>
            <a:off x="762000" y="13335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4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操業を止めずに、揚水を増やさずに純増利益を生む</a:t>
            </a:r>
            <a:endParaRPr b="0" sz="24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762000" y="2476500"/>
            <a:ext cx="2476500" cy="1714500"/>
            <a:chOff x="0" y="0"/>
            <a:chExt cx="2476500" cy="1714500"/>
          </a:xfrm>
        </p:grpSpPr>
        <p:grpSp>
          <p:nvGrpSpPr>
            <p:cNvPr id="105" name="Google Shape;105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" name="Google Shape;108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【揚水ゼロの純増産】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既存排水の歩留まり向上（回収ヨウ素は全量顧客帰属）</a:t>
              </a:r>
              <a:endParaRPr b="0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3333750" y="2476500"/>
            <a:ext cx="2476500" cy="1714500"/>
            <a:chOff x="0" y="0"/>
            <a:chExt cx="2476500" cy="1714500"/>
          </a:xfrm>
        </p:grpSpPr>
        <p:grpSp>
          <p:nvGrpSpPr>
            <p:cNvPr id="110" name="Google Shape;110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11" name="Google Shape;111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" name="Google Shape;113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6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【操業を止めない設計】</a:t>
              </a:r>
              <a:endParaRPr b="1" sz="1665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1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既存ラインを止めない側流ボルトオン設置（分岐比3.5〜6.8%）</a:t>
              </a:r>
              <a:endParaRPr b="0" sz="11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5905500" y="2476500"/>
            <a:ext cx="2476500" cy="1714500"/>
            <a:chOff x="0" y="0"/>
            <a:chExt cx="2476500" cy="1714500"/>
          </a:xfrm>
        </p:grpSpPr>
        <p:grpSp>
          <p:nvGrpSpPr>
            <p:cNvPr id="115" name="Google Shape;115;p16"/>
            <p:cNvGrpSpPr/>
            <p:nvPr/>
          </p:nvGrpSpPr>
          <p:grpSpPr>
            <a:xfrm>
              <a:off x="0" y="0"/>
              <a:ext cx="2476500" cy="1714500"/>
              <a:chOff x="0" y="0"/>
              <a:chExt cx="2476500" cy="1714500"/>
            </a:xfrm>
          </p:grpSpPr>
          <p:sp>
            <p:nvSpPr>
              <p:cNvPr id="116" name="Google Shape;116;p16"/>
              <p:cNvSpPr/>
              <p:nvPr/>
            </p:nvSpPr>
            <p:spPr>
              <a:xfrm>
                <a:off x="0" y="0"/>
                <a:ext cx="2476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9F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228600" y="228600"/>
                <a:ext cx="304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" name="Google Shape;118;p16"/>
            <p:cNvSpPr txBox="1"/>
            <p:nvPr/>
          </p:nvSpPr>
          <p:spPr>
            <a:xfrm>
              <a:off x="228600" y="457200"/>
              <a:ext cx="20193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【純増粗利 ＋3,436.9万円/年】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投資回収 2.33年（税制優遇活用時 約1.6年）</a:t>
              </a:r>
              <a:endParaRPr b="0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127" name="Google Shape;127;p17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30" name="Google Shape;130;p17"/>
          <p:cNvSpPr/>
          <p:nvPr/>
        </p:nvSpPr>
        <p:spPr>
          <a:xfrm>
            <a:off x="762000" y="1333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62000" y="1524000"/>
            <a:ext cx="781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「主分離工程で化学試薬ゼロ」──</a:t>
            </a:r>
            <a:b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lang="ja" sz="36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無薬剤で駆動する独自の相分離技術</a:t>
            </a:r>
            <a:endParaRPr b="0" sz="360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32" name="Google Shape;132;p17"/>
          <p:cNvGrpSpPr/>
          <p:nvPr/>
        </p:nvGrpSpPr>
        <p:grpSpPr>
          <a:xfrm>
            <a:off x="762000" y="2857500"/>
            <a:ext cx="3810000" cy="1809750"/>
            <a:chOff x="0" y="0"/>
            <a:chExt cx="3810000" cy="1809750"/>
          </a:xfrm>
        </p:grpSpPr>
        <p:sp>
          <p:nvSpPr>
            <p:cNvPr id="133" name="Google Shape;133;p17"/>
            <p:cNvSpPr txBox="1"/>
            <p:nvPr/>
          </p:nvSpPr>
          <p:spPr>
            <a:xfrm>
              <a:off x="0" y="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捕捉率 約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381000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44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97</a:t>
              </a:r>
              <a:r>
                <a:rPr b="0" lang="ja" sz="372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%</a:t>
              </a:r>
              <a:endParaRPr b="0" sz="744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14287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4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(7ppm希薄水系・TRL3実証済)</a:t>
              </a:r>
              <a:endParaRPr b="0" sz="14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4953000" y="1524000"/>
            <a:ext cx="1485900" cy="685800"/>
            <a:chOff x="0" y="0"/>
            <a:chExt cx="2476500" cy="11430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1143000" cy="1143000"/>
            </a:xfrm>
            <a:prstGeom prst="roundRect">
              <a:avLst>
                <a:gd fmla="val 13333" name="adj"/>
              </a:avLst>
            </a:prstGeom>
            <a:solidFill>
              <a:srgbClr val="0F2027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1333500" y="0"/>
              <a:ext cx="1143000" cy="1143000"/>
            </a:xfrm>
            <a:prstGeom prst="roundRect">
              <a:avLst>
                <a:gd fmla="val 13333" name="adj"/>
              </a:avLst>
            </a:prstGeom>
            <a:solidFill>
              <a:srgbClr val="00A896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00" y="542925"/>
              <a:ext cx="5334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7"/>
            <p:cNvSpPr/>
            <p:nvPr/>
          </p:nvSpPr>
          <p:spPr>
            <a:xfrm>
              <a:off x="1162050" y="495300"/>
              <a:ext cx="152400" cy="152400"/>
            </a:xfrm>
            <a:prstGeom prst="ellipse">
              <a:avLst/>
            </a:prstGeom>
            <a:solidFill>
              <a:srgbClr val="FF6B6B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7"/>
          <p:cNvGrpSpPr/>
          <p:nvPr/>
        </p:nvGrpSpPr>
        <p:grpSpPr>
          <a:xfrm>
            <a:off x="4572000" y="2693670"/>
            <a:ext cx="3619500" cy="1106805"/>
            <a:chOff x="0" y="26670"/>
            <a:chExt cx="3619500" cy="1106805"/>
          </a:xfrm>
        </p:grpSpPr>
        <p:grpSp>
          <p:nvGrpSpPr>
            <p:cNvPr id="142" name="Google Shape;142;p17"/>
            <p:cNvGrpSpPr/>
            <p:nvPr/>
          </p:nvGrpSpPr>
          <p:grpSpPr>
            <a:xfrm>
              <a:off x="0" y="26670"/>
              <a:ext cx="800100" cy="1106805"/>
              <a:chOff x="0" y="38100"/>
              <a:chExt cx="1143000" cy="158115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38100" y="38100"/>
                <a:ext cx="1066800" cy="1066800"/>
              </a:xfrm>
              <a:prstGeom prst="ellipse">
                <a:avLst/>
              </a:prstGeom>
              <a:solidFill>
                <a:srgbClr val="FFFFFF"/>
              </a:solidFill>
              <a:ln cap="flat" cmpd="sng" w="76200">
                <a:solidFill>
                  <a:srgbClr val="FF6B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228600" y="228600"/>
                <a:ext cx="685800" cy="6858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cap="flat" cmpd="sng" w="76200">
                <a:solidFill>
                  <a:srgbClr val="FF6B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0" y="1238250"/>
                <a:ext cx="11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NO REAGENT</a:t>
                </a:r>
                <a:endParaRPr b="0" sz="93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</p:txBody>
          </p:sp>
        </p:grpSp>
        <p:sp>
          <p:nvSpPr>
            <p:cNvPr id="146" name="Google Shape;146;p17"/>
            <p:cNvSpPr txBox="1"/>
            <p:nvPr/>
          </p:nvSpPr>
          <p:spPr>
            <a:xfrm>
              <a:off x="952500" y="142875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0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外部化学試薬 ゼロ</a:t>
              </a:r>
              <a:endParaRPr b="1" sz="20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4572000" y="3524250"/>
            <a:ext cx="4152900" cy="381000"/>
            <a:chOff x="0" y="0"/>
            <a:chExt cx="4152900" cy="3810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A89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114300" y="114300"/>
              <a:ext cx="152400" cy="1524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0"/>
                  </a:lnTo>
                  <a:moveTo>
                    <a:pt x="60000" y="0"/>
                  </a:moveTo>
                  <a:lnTo>
                    <a:pt x="120000" y="0"/>
                  </a:lnTo>
                  <a:lnTo>
                    <a:pt x="120000" y="6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00A8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533400" y="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工場未利用廃熱(~40℃)駆動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4572000" y="4000500"/>
            <a:ext cx="4152900" cy="381000"/>
            <a:chOff x="0" y="0"/>
            <a:chExt cx="4152900" cy="3810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00A89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963" y="80963"/>
              <a:ext cx="219000" cy="219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533400" y="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ポリマー全量閉鎖循環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8"/>
          <p:cNvGrpSpPr/>
          <p:nvPr/>
        </p:nvGrpSpPr>
        <p:grpSpPr>
          <a:xfrm>
            <a:off x="838200" y="438150"/>
            <a:ext cx="3209925" cy="381000"/>
            <a:chOff x="76200" y="57150"/>
            <a:chExt cx="3209925" cy="381000"/>
          </a:xfrm>
        </p:grpSpPr>
        <p:sp>
          <p:nvSpPr>
            <p:cNvPr id="163" name="Google Shape;163;p18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6477000" y="4572000"/>
            <a:ext cx="1905000" cy="304800"/>
            <a:chOff x="0" y="0"/>
            <a:chExt cx="1905000" cy="3048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9050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0"/>
              <a:ext cx="1905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69" name="Google Shape;169;p18"/>
          <p:cNvSpPr txBox="1"/>
          <p:nvPr/>
        </p:nvSpPr>
        <p:spPr>
          <a:xfrm>
            <a:off x="762000" y="104775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48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顧客の増産に連動して反復収益がスケールする3層モデル</a:t>
            </a:r>
            <a:endParaRPr b="0" sz="248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170" name="Google Shape;170;p18"/>
          <p:cNvGrpSpPr/>
          <p:nvPr/>
        </p:nvGrpSpPr>
        <p:grpSpPr>
          <a:xfrm>
            <a:off x="762000" y="2000250"/>
            <a:ext cx="2476500" cy="1428900"/>
            <a:chOff x="0" y="0"/>
            <a:chExt cx="2476500" cy="1428900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" name="Google Shape;17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01 / ONE-TIME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装置販売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0F202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8,000万円</a:t>
              </a:r>
              <a:r>
                <a:rPr b="0" lang="ja" sz="1100">
                  <a:solidFill>
                    <a:srgbClr val="0F202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基</a:t>
              </a:r>
              <a:endParaRPr b="1" sz="140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3333750" y="2000250"/>
            <a:ext cx="2476500" cy="1428900"/>
            <a:chOff x="0" y="0"/>
            <a:chExt cx="2476500" cy="1428900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" name="Google Shape;177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02 / RECURRING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66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ポリマー供給＋保守</a:t>
              </a:r>
              <a:endParaRPr b="1" sz="1665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295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847万円</a:t>
              </a:r>
              <a:r>
                <a:rPr b="0" lang="ja" sz="1018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年</a:t>
              </a:r>
              <a:endParaRPr b="1" sz="1295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5905500" y="2000250"/>
            <a:ext cx="2476500" cy="1428900"/>
            <a:chOff x="0" y="0"/>
            <a:chExt cx="2476500" cy="14289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2476500" cy="14289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2" name="Google Shape;182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18"/>
            <p:cNvSpPr txBox="1"/>
            <p:nvPr/>
          </p:nvSpPr>
          <p:spPr>
            <a:xfrm>
              <a:off x="0" y="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LAYER 03 / VARIABLE</a:t>
              </a:r>
              <a:endParaRPr b="0" sz="10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228600" y="571500"/>
              <a:ext cx="20193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プロセス利用料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ja" sz="140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1,717円</a:t>
              </a:r>
              <a:r>
                <a:rPr b="0" lang="ja" sz="11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 / kg</a:t>
              </a:r>
              <a:endParaRPr b="1" sz="1400">
                <a:solidFill>
                  <a:srgbClr val="FF6B6B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85" name="Google Shape;185;p18"/>
          <p:cNvSpPr txBox="1"/>
          <p:nvPr/>
        </p:nvSpPr>
        <p:spPr>
          <a:xfrm>
            <a:off x="762000" y="3810000"/>
            <a:ext cx="42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850">
                <a:solidFill>
                  <a:srgbClr val="00A89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FY2030 TARGET</a:t>
            </a:r>
            <a:endParaRPr b="0" sz="850">
              <a:solidFill>
                <a:srgbClr val="00A89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ja" sz="357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rPr>
              <a:t>2.39</a:t>
            </a:r>
            <a:r>
              <a:rPr b="0" lang="ja" sz="2040">
                <a:solidFill>
                  <a:srgbClr val="FF6B6B"/>
                </a:solidFill>
                <a:latin typeface="Inter Black"/>
                <a:ea typeface="Inter Black"/>
                <a:cs typeface="Inter Black"/>
                <a:sym typeface="Inter Black"/>
              </a:rPr>
              <a:t> 億円</a:t>
            </a:r>
            <a:r>
              <a:rPr b="1" lang="ja" sz="119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利益 ＋4,763 万円 (黒字化)</a:t>
            </a:r>
            <a:endParaRPr b="0" sz="3570">
              <a:solidFill>
                <a:srgbClr val="FF6B6B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5524500" y="3714750"/>
            <a:ext cx="1524000" cy="1000125"/>
            <a:chOff x="0" y="0"/>
            <a:chExt cx="1524000" cy="1000125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476250"/>
              <a:ext cx="381000" cy="285900"/>
            </a:xfrm>
            <a:prstGeom prst="roundRect">
              <a:avLst>
                <a:gd fmla="val 6666" name="adj"/>
              </a:avLst>
            </a:prstGeom>
            <a:solidFill>
              <a:srgbClr val="E9EC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71500" y="285750"/>
              <a:ext cx="381000" cy="476400"/>
            </a:xfrm>
            <a:prstGeom prst="roundRect">
              <a:avLst>
                <a:gd fmla="val 5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1143000" y="0"/>
              <a:ext cx="381000" cy="762000"/>
            </a:xfrm>
            <a:prstGeom prst="roundRect">
              <a:avLst>
                <a:gd fmla="val 5000" name="adj"/>
              </a:avLst>
            </a:prstGeom>
            <a:solidFill>
              <a:srgbClr val="FF6B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FY2026</a:t>
              </a:r>
              <a:endParaRPr b="0" sz="7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57150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FY2028</a:t>
              </a:r>
              <a:endParaRPr b="0" sz="7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1143000" y="809625"/>
              <a:ext cx="38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700">
                  <a:solidFill>
                    <a:srgbClr val="FF6B6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FY2030</a:t>
              </a:r>
              <a:endParaRPr b="0" sz="700">
                <a:solidFill>
                  <a:srgbClr val="FF6B6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pic>
          <p:nvPicPr>
            <p:cNvPr id="193" name="Google Shape;193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5738" y="38100"/>
              <a:ext cx="1152600" cy="400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18"/>
          <p:cNvSpPr/>
          <p:nvPr/>
        </p:nvSpPr>
        <p:spPr>
          <a:xfrm>
            <a:off x="762000" y="952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9"/>
          <p:cNvGrpSpPr/>
          <p:nvPr/>
        </p:nvGrpSpPr>
        <p:grpSpPr>
          <a:xfrm>
            <a:off x="838200" y="533400"/>
            <a:ext cx="3209925" cy="381000"/>
            <a:chOff x="76200" y="57150"/>
            <a:chExt cx="3209925" cy="381000"/>
          </a:xfrm>
        </p:grpSpPr>
        <p:sp>
          <p:nvSpPr>
            <p:cNvPr id="200" name="Google Shape;200;p19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03" name="Google Shape;203;p19"/>
          <p:cNvSpPr/>
          <p:nvPr/>
        </p:nvSpPr>
        <p:spPr>
          <a:xfrm>
            <a:off x="762000" y="123825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142875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306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千葉から北米へ、世界の未利用水系資源を拓く</a:t>
            </a:r>
            <a:endParaRPr b="0" sz="306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05" name="Google Shape;205;p19"/>
          <p:cNvGrpSpPr/>
          <p:nvPr/>
        </p:nvGrpSpPr>
        <p:grpSpPr>
          <a:xfrm>
            <a:off x="1714500" y="2362200"/>
            <a:ext cx="6143625" cy="571500"/>
            <a:chOff x="0" y="-19050"/>
            <a:chExt cx="6143625" cy="571500"/>
          </a:xfrm>
        </p:grpSpPr>
        <p:grpSp>
          <p:nvGrpSpPr>
            <p:cNvPr id="206" name="Google Shape;206;p19"/>
            <p:cNvGrpSpPr/>
            <p:nvPr/>
          </p:nvGrpSpPr>
          <p:grpSpPr>
            <a:xfrm>
              <a:off x="0" y="0"/>
              <a:ext cx="1571625" cy="533400"/>
              <a:chOff x="0" y="0"/>
              <a:chExt cx="1571625" cy="533400"/>
            </a:xfrm>
          </p:grpSpPr>
          <p:grpSp>
            <p:nvGrpSpPr>
              <p:cNvPr id="207" name="Google Shape;207;p19"/>
              <p:cNvGrpSpPr/>
              <p:nvPr/>
            </p:nvGrpSpPr>
            <p:grpSpPr>
              <a:xfrm>
                <a:off x="0" y="0"/>
                <a:ext cx="381000" cy="533400"/>
                <a:chOff x="0" y="0"/>
                <a:chExt cx="381000" cy="533400"/>
              </a:xfrm>
            </p:grpSpPr>
            <p:sp>
              <p:nvSpPr>
                <p:cNvPr id="208" name="Google Shape;208;p19"/>
                <p:cNvSpPr/>
                <p:nvPr/>
              </p:nvSpPr>
              <p:spPr>
                <a:xfrm>
                  <a:off x="0" y="0"/>
                  <a:ext cx="381000" cy="5334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cubicBezTo>
                        <a:pt x="26862" y="0"/>
                        <a:pt x="0" y="19187"/>
                        <a:pt x="0" y="42857"/>
                      </a:cubicBezTo>
                      <a:cubicBezTo>
                        <a:pt x="0" y="75000"/>
                        <a:pt x="60000" y="120000"/>
                        <a:pt x="60000" y="120000"/>
                      </a:cubicBezTo>
                      <a:cubicBezTo>
                        <a:pt x="60000" y="120000"/>
                        <a:pt x="120000" y="75000"/>
                        <a:pt x="120000" y="42857"/>
                      </a:cubicBezTo>
                      <a:cubicBezTo>
                        <a:pt x="120000" y="19187"/>
                        <a:pt x="93138" y="0"/>
                        <a:pt x="60000" y="0"/>
                      </a:cubicBezTo>
                      <a:close/>
                    </a:path>
                  </a:pathLst>
                </a:custGeom>
                <a:solidFill>
                  <a:srgbClr val="0F202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19"/>
                <p:cNvSpPr/>
                <p:nvPr/>
              </p:nvSpPr>
              <p:spPr>
                <a:xfrm>
                  <a:off x="114300" y="114300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" name="Google Shape;210;p19"/>
              <p:cNvSpPr txBox="1"/>
              <p:nvPr/>
            </p:nvSpPr>
            <p:spPr>
              <a:xfrm>
                <a:off x="428625" y="95250"/>
                <a:ext cx="11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48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千葉 (Chiba)</a:t>
                </a:r>
                <a:endParaRPr b="1" sz="148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11" name="Google Shape;211;p19"/>
            <p:cNvGrpSpPr/>
            <p:nvPr/>
          </p:nvGrpSpPr>
          <p:grpSpPr>
            <a:xfrm>
              <a:off x="1619250" y="-19050"/>
              <a:ext cx="2095500" cy="571500"/>
              <a:chOff x="0" y="0"/>
              <a:chExt cx="2095500" cy="571500"/>
            </a:xfrm>
          </p:grpSpPr>
          <p:sp>
            <p:nvSpPr>
              <p:cNvPr id="212" name="Google Shape;212;p19"/>
              <p:cNvSpPr/>
              <p:nvPr/>
            </p:nvSpPr>
            <p:spPr>
              <a:xfrm>
                <a:off x="0" y="0"/>
                <a:ext cx="2095500" cy="5715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lnTo>
                      <a:pt x="87273" y="40000"/>
                    </a:lnTo>
                    <a:lnTo>
                      <a:pt x="87273" y="0"/>
                    </a:lnTo>
                    <a:lnTo>
                      <a:pt x="120000" y="60000"/>
                    </a:lnTo>
                    <a:lnTo>
                      <a:pt x="87273" y="120000"/>
                    </a:lnTo>
                    <a:lnTo>
                      <a:pt x="87273" y="80000"/>
                    </a:lnTo>
                    <a:lnTo>
                      <a:pt x="0" y="80000"/>
                    </a:lnTo>
                    <a:close/>
                  </a:path>
                </a:pathLst>
              </a:custGeom>
              <a:solidFill>
                <a:srgbClr val="00A896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9"/>
              <p:cNvSpPr txBox="1"/>
              <p:nvPr/>
            </p:nvSpPr>
            <p:spPr>
              <a:xfrm>
                <a:off x="95250" y="142875"/>
                <a:ext cx="1333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800">
                    <a:solidFill>
                      <a:srgbClr val="0F20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GLOBAL EXPANSION</a:t>
                </a:r>
                <a:endParaRPr b="0" sz="800">
                  <a:solidFill>
                    <a:srgbClr val="0F20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14" name="Google Shape;214;p19"/>
            <p:cNvGrpSpPr/>
            <p:nvPr/>
          </p:nvGrpSpPr>
          <p:grpSpPr>
            <a:xfrm>
              <a:off x="4000500" y="0"/>
              <a:ext cx="2143125" cy="533400"/>
              <a:chOff x="0" y="0"/>
              <a:chExt cx="2143125" cy="533400"/>
            </a:xfrm>
          </p:grpSpPr>
          <p:grpSp>
            <p:nvGrpSpPr>
              <p:cNvPr id="215" name="Google Shape;215;p19"/>
              <p:cNvGrpSpPr/>
              <p:nvPr/>
            </p:nvGrpSpPr>
            <p:grpSpPr>
              <a:xfrm>
                <a:off x="0" y="0"/>
                <a:ext cx="381000" cy="533400"/>
                <a:chOff x="0" y="0"/>
                <a:chExt cx="381000" cy="533400"/>
              </a:xfrm>
            </p:grpSpPr>
            <p:sp>
              <p:nvSpPr>
                <p:cNvPr id="216" name="Google Shape;216;p19"/>
                <p:cNvSpPr/>
                <p:nvPr/>
              </p:nvSpPr>
              <p:spPr>
                <a:xfrm>
                  <a:off x="0" y="0"/>
                  <a:ext cx="381000" cy="533400"/>
                </a:xfrm>
                <a:custGeom>
                  <a:rect b="b" l="l" r="r" t="t"/>
                  <a:pathLst>
                    <a:path extrusionOk="0" h="120000" w="120000">
                      <a:moveTo>
                        <a:pt x="60000" y="0"/>
                      </a:moveTo>
                      <a:cubicBezTo>
                        <a:pt x="26862" y="0"/>
                        <a:pt x="0" y="19187"/>
                        <a:pt x="0" y="42857"/>
                      </a:cubicBezTo>
                      <a:cubicBezTo>
                        <a:pt x="0" y="75000"/>
                        <a:pt x="60000" y="120000"/>
                        <a:pt x="60000" y="120000"/>
                      </a:cubicBezTo>
                      <a:cubicBezTo>
                        <a:pt x="60000" y="120000"/>
                        <a:pt x="120000" y="75000"/>
                        <a:pt x="120000" y="42857"/>
                      </a:cubicBezTo>
                      <a:cubicBezTo>
                        <a:pt x="120000" y="19187"/>
                        <a:pt x="93138" y="0"/>
                        <a:pt x="60000" y="0"/>
                      </a:cubicBezTo>
                      <a:close/>
                    </a:path>
                  </a:pathLst>
                </a:custGeom>
                <a:solidFill>
                  <a:srgbClr val="0F202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" name="Google Shape;217;p19"/>
                <p:cNvSpPr/>
                <p:nvPr/>
              </p:nvSpPr>
              <p:spPr>
                <a:xfrm>
                  <a:off x="114300" y="114300"/>
                  <a:ext cx="152400" cy="152400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" name="Google Shape;218;p19"/>
              <p:cNvSpPr txBox="1"/>
              <p:nvPr/>
            </p:nvSpPr>
            <p:spPr>
              <a:xfrm>
                <a:off x="428625" y="95250"/>
                <a:ext cx="1714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6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北米 (N. America)</a:t>
                </a:r>
                <a:endParaRPr b="1" sz="16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19" name="Google Shape;219;p19"/>
          <p:cNvGrpSpPr/>
          <p:nvPr/>
        </p:nvGrpSpPr>
        <p:grpSpPr>
          <a:xfrm>
            <a:off x="762000" y="3429000"/>
            <a:ext cx="7620150" cy="1143000"/>
            <a:chOff x="0" y="0"/>
            <a:chExt cx="7620150" cy="1143000"/>
          </a:xfrm>
        </p:grpSpPr>
        <p:grpSp>
          <p:nvGrpSpPr>
            <p:cNvPr id="220" name="Google Shape;220;p19"/>
            <p:cNvGrpSpPr/>
            <p:nvPr/>
          </p:nvGrpSpPr>
          <p:grpSpPr>
            <a:xfrm>
              <a:off x="0" y="0"/>
              <a:ext cx="2381400" cy="1143000"/>
              <a:chOff x="0" y="0"/>
              <a:chExt cx="2381400" cy="1143000"/>
            </a:xfrm>
          </p:grpSpPr>
          <p:sp>
            <p:nvSpPr>
              <p:cNvPr id="221" name="Google Shape;221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SOM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80〜100 億円/年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国内5拠点ビーチヘッド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24" name="Google Shape;224;p19"/>
            <p:cNvGrpSpPr/>
            <p:nvPr/>
          </p:nvGrpSpPr>
          <p:grpSpPr>
            <a:xfrm>
              <a:off x="2619375" y="0"/>
              <a:ext cx="2381400" cy="1143000"/>
              <a:chOff x="0" y="0"/>
              <a:chExt cx="2381400" cy="1143000"/>
            </a:xfrm>
          </p:grpSpPr>
          <p:sp>
            <p:nvSpPr>
              <p:cNvPr id="225" name="Google Shape;225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SAM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数千億円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世界の未利用低濃度水系資源</a:t>
                </a:r>
                <a:b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</a:b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北米油ガス田随伴水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28" name="Google Shape;228;p19"/>
            <p:cNvGrpSpPr/>
            <p:nvPr/>
          </p:nvGrpSpPr>
          <p:grpSpPr>
            <a:xfrm>
              <a:off x="5238750" y="0"/>
              <a:ext cx="2381400" cy="1143000"/>
              <a:chOff x="0" y="0"/>
              <a:chExt cx="2381400" cy="1143000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0" y="0"/>
                <a:ext cx="23814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9"/>
              <p:cNvSpPr/>
              <p:nvPr/>
            </p:nvSpPr>
            <p:spPr>
              <a:xfrm>
                <a:off x="190500" y="142875"/>
                <a:ext cx="228600" cy="28500"/>
              </a:xfrm>
              <a:prstGeom prst="roundRect">
                <a:avLst>
                  <a:gd fmla="val 50000" name="adj"/>
                </a:avLst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190500" y="238125"/>
                <a:ext cx="20001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00A89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TAM</a:t>
                </a:r>
                <a:endParaRPr b="0" sz="935">
                  <a:solidFill>
                    <a:srgbClr val="00A89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1870">
                    <a:solidFill>
                      <a:srgbClr val="FF6B6B"/>
                    </a:solidFill>
                    <a:latin typeface="Inter Black"/>
                    <a:ea typeface="Inter Black"/>
                    <a:cs typeface="Inter Black"/>
                    <a:sym typeface="Inter Black"/>
                  </a:rPr>
                  <a:t>数百兆円</a:t>
                </a:r>
                <a:endParaRPr b="0" sz="1870">
                  <a:solidFill>
                    <a:srgbClr val="FF6B6B"/>
                  </a:solidFill>
                  <a:latin typeface="Inter Black"/>
                  <a:ea typeface="Inter Black"/>
                  <a:cs typeface="Inter Black"/>
                  <a:sym typeface="Inter Black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世界のプラント・水処理</a:t>
                </a:r>
                <a:b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</a:br>
                <a:r>
                  <a:rPr b="0" lang="ja" sz="935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資源回収全体</a:t>
                </a:r>
                <a:endParaRPr b="0" sz="935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32" name="Google Shape;232;p19"/>
          <p:cNvGrpSpPr/>
          <p:nvPr/>
        </p:nvGrpSpPr>
        <p:grpSpPr>
          <a:xfrm>
            <a:off x="6667500" y="4572000"/>
            <a:ext cx="2095500" cy="304800"/>
            <a:chOff x="0" y="0"/>
            <a:chExt cx="2095500" cy="3048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240" name="Google Shape;240;p20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43" name="Google Shape;243;p20"/>
          <p:cNvSpPr txBox="1"/>
          <p:nvPr/>
        </p:nvSpPr>
        <p:spPr>
          <a:xfrm>
            <a:off x="762000" y="1333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連続起業家 </a:t>
            </a:r>
            <a:r>
              <a:rPr b="0" lang="ja" sz="272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×</a:t>
            </a: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 シーズ発明者 </a:t>
            </a:r>
            <a:r>
              <a:rPr b="0" lang="ja" sz="272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rPr>
              <a:t>×</a:t>
            </a:r>
            <a:r>
              <a:rPr b="0" lang="ja" sz="272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 大手化学OB顧問団</a:t>
            </a:r>
            <a:endParaRPr b="0" sz="272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44" name="Google Shape;244;p20"/>
          <p:cNvGrpSpPr/>
          <p:nvPr/>
        </p:nvGrpSpPr>
        <p:grpSpPr>
          <a:xfrm>
            <a:off x="762000" y="2476500"/>
            <a:ext cx="2857500" cy="857250"/>
            <a:chOff x="0" y="0"/>
            <a:chExt cx="2857500" cy="857250"/>
          </a:xfrm>
        </p:grpSpPr>
        <p:grpSp>
          <p:nvGrpSpPr>
            <p:cNvPr id="245" name="Google Shape;245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48" name="Google Shape;248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K</a:t>
              </a:r>
              <a:endParaRPr b="1" sz="24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952500" y="952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代表 加藤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5社創業・4.5億調達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0" name="Google Shape;250;p20"/>
          <p:cNvGrpSpPr/>
          <p:nvPr/>
        </p:nvGrpSpPr>
        <p:grpSpPr>
          <a:xfrm>
            <a:off x="3333750" y="2476500"/>
            <a:ext cx="2857500" cy="857250"/>
            <a:chOff x="0" y="0"/>
            <a:chExt cx="2857500" cy="857250"/>
          </a:xfrm>
        </p:grpSpPr>
        <p:grpSp>
          <p:nvGrpSpPr>
            <p:cNvPr id="251" name="Google Shape;251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54" name="Google Shape;254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N</a:t>
              </a:r>
              <a:endParaRPr b="1" sz="24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952500" y="9525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西村准教授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発明者 / 同志社大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56" name="Google Shape;256;p20"/>
          <p:cNvGrpSpPr/>
          <p:nvPr/>
        </p:nvGrpSpPr>
        <p:grpSpPr>
          <a:xfrm>
            <a:off x="5905500" y="2476500"/>
            <a:ext cx="3048000" cy="857250"/>
            <a:chOff x="0" y="0"/>
            <a:chExt cx="3048000" cy="857250"/>
          </a:xfrm>
        </p:grpSpPr>
        <p:grpSp>
          <p:nvGrpSpPr>
            <p:cNvPr id="257" name="Google Shape;257;p20"/>
            <p:cNvGrpSpPr/>
            <p:nvPr/>
          </p:nvGrpSpPr>
          <p:grpSpPr>
            <a:xfrm>
              <a:off x="0" y="0"/>
              <a:ext cx="762000" cy="762000"/>
              <a:chOff x="0" y="0"/>
              <a:chExt cx="762000" cy="7620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0" y="0"/>
                <a:ext cx="762000" cy="762000"/>
              </a:xfrm>
              <a:prstGeom prst="ellipse">
                <a:avLst/>
              </a:prstGeom>
              <a:solidFill>
                <a:srgbClr val="F8F9FA"/>
              </a:solidFill>
              <a:ln cap="flat" cmpd="sng" w="9525">
                <a:solidFill>
                  <a:srgbClr val="E9ECE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0"/>
              <p:cNvSpPr txBox="1"/>
              <p:nvPr/>
            </p:nvSpPr>
            <p:spPr>
              <a:xfrm>
                <a:off x="0" y="0"/>
                <a:ext cx="76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24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[I]</a:t>
                </a:r>
                <a:endParaRPr b="1" sz="24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sp>
          <p:nvSpPr>
            <p:cNvPr id="260" name="Google Shape;260;p20"/>
            <p:cNvSpPr txBox="1"/>
            <p:nvPr/>
          </p:nvSpPr>
          <p:spPr>
            <a:xfrm>
              <a:off x="0" y="0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20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Ad</a:t>
              </a:r>
              <a:endParaRPr b="1" sz="2000">
                <a:solidFill>
                  <a:srgbClr val="00A896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952500" y="95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8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大手化学OB</a:t>
              </a:r>
              <a:endParaRPr b="1" sz="18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ja" sz="10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シニア顧問団</a:t>
              </a:r>
              <a:endParaRPr b="0" sz="10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262" name="Google Shape;262;p20"/>
          <p:cNvSpPr/>
          <p:nvPr/>
        </p:nvSpPr>
        <p:spPr>
          <a:xfrm>
            <a:off x="762000" y="3619500"/>
            <a:ext cx="7620000" cy="96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p20"/>
          <p:cNvGrpSpPr/>
          <p:nvPr/>
        </p:nvGrpSpPr>
        <p:grpSpPr>
          <a:xfrm>
            <a:off x="800100" y="3810000"/>
            <a:ext cx="7429500" cy="381000"/>
            <a:chOff x="38100" y="0"/>
            <a:chExt cx="7429500" cy="381000"/>
          </a:xfrm>
        </p:grpSpPr>
        <p:sp>
          <p:nvSpPr>
            <p:cNvPr id="264" name="Google Shape;264;p20"/>
            <p:cNvSpPr/>
            <p:nvPr/>
          </p:nvSpPr>
          <p:spPr>
            <a:xfrm>
              <a:off x="38100" y="76200"/>
              <a:ext cx="76200" cy="762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228600" y="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国内大手A社</a:t>
              </a:r>
              <a:r>
                <a:rPr b="0" lang="ja" sz="1000">
                  <a:solidFill>
                    <a:srgbClr val="00A896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サンプル合意</a:t>
              </a:r>
              <a:endParaRPr b="1" sz="12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grpSp>
          <p:nvGrpSpPr>
            <p:cNvPr id="266" name="Google Shape;266;p20"/>
            <p:cNvGrpSpPr/>
            <p:nvPr/>
          </p:nvGrpSpPr>
          <p:grpSpPr>
            <a:xfrm>
              <a:off x="1847850" y="0"/>
              <a:ext cx="1714500" cy="381000"/>
              <a:chOff x="38100" y="0"/>
              <a:chExt cx="1714500" cy="3810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 txBox="1"/>
              <p:nvPr/>
            </p:nvSpPr>
            <p:spPr>
              <a:xfrm>
                <a:off x="228600" y="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国内大手B社</a:t>
                </a:r>
                <a:r>
                  <a:rPr b="0" lang="ja" sz="1000">
                    <a:solidFill>
                      <a:srgbClr val="00A896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協議中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69" name="Google Shape;269;p20"/>
            <p:cNvGrpSpPr/>
            <p:nvPr/>
          </p:nvGrpSpPr>
          <p:grpSpPr>
            <a:xfrm>
              <a:off x="3562350" y="0"/>
              <a:ext cx="1714500" cy="381000"/>
              <a:chOff x="38100" y="0"/>
              <a:chExt cx="1714500" cy="381000"/>
            </a:xfrm>
          </p:grpSpPr>
          <p:sp>
            <p:nvSpPr>
              <p:cNvPr id="270" name="Google Shape;270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00A8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0"/>
              <p:cNvSpPr txBox="1"/>
              <p:nvPr/>
            </p:nvSpPr>
            <p:spPr>
              <a:xfrm>
                <a:off x="228600" y="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7層知財防壁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272" name="Google Shape;272;p20"/>
            <p:cNvGrpSpPr/>
            <p:nvPr/>
          </p:nvGrpSpPr>
          <p:grpSpPr>
            <a:xfrm>
              <a:off x="5372100" y="0"/>
              <a:ext cx="2095500" cy="381000"/>
              <a:chOff x="38100" y="0"/>
              <a:chExt cx="2095500" cy="381000"/>
            </a:xfrm>
          </p:grpSpPr>
          <p:sp>
            <p:nvSpPr>
              <p:cNvPr id="273" name="Google Shape;273;p20"/>
              <p:cNvSpPr/>
              <p:nvPr/>
            </p:nvSpPr>
            <p:spPr>
              <a:xfrm>
                <a:off x="38100" y="76200"/>
                <a:ext cx="76200" cy="76200"/>
              </a:xfrm>
              <a:prstGeom prst="ellipse">
                <a:avLst/>
              </a:prstGeom>
              <a:solidFill>
                <a:srgbClr val="FF6B6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0"/>
              <p:cNvSpPr txBox="1"/>
              <p:nvPr/>
            </p:nvSpPr>
            <p:spPr>
              <a:xfrm>
                <a:off x="228600" y="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ja" sz="1200">
                    <a:solidFill>
                      <a:srgbClr val="1E3A5F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9月末TRL4判定</a:t>
                </a:r>
                <a:endParaRPr b="1" sz="120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grpSp>
        <p:nvGrpSpPr>
          <p:cNvPr id="275" name="Google Shape;275;p20"/>
          <p:cNvGrpSpPr/>
          <p:nvPr/>
        </p:nvGrpSpPr>
        <p:grpSpPr>
          <a:xfrm>
            <a:off x="6667500" y="4381500"/>
            <a:ext cx="2095500" cy="304800"/>
            <a:chOff x="0" y="0"/>
            <a:chExt cx="2095500" cy="304800"/>
          </a:xfrm>
        </p:grpSpPr>
        <p:sp>
          <p:nvSpPr>
            <p:cNvPr id="276" name="Google Shape;276;p20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8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8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1"/>
          <p:cNvGrpSpPr/>
          <p:nvPr/>
        </p:nvGrpSpPr>
        <p:grpSpPr>
          <a:xfrm>
            <a:off x="838200" y="628650"/>
            <a:ext cx="3209925" cy="381000"/>
            <a:chOff x="76200" y="57150"/>
            <a:chExt cx="3209925" cy="381000"/>
          </a:xfrm>
        </p:grpSpPr>
        <p:sp>
          <p:nvSpPr>
            <p:cNvPr id="283" name="Google Shape;283;p21"/>
            <p:cNvSpPr/>
            <p:nvPr/>
          </p:nvSpPr>
          <p:spPr>
            <a:xfrm>
              <a:off x="76200" y="76200"/>
              <a:ext cx="228600" cy="228600"/>
            </a:xfrm>
            <a:prstGeom prst="ellipse">
              <a:avLst/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190500" y="7620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cubicBezTo>
                    <a:pt x="66274" y="0"/>
                    <a:pt x="120000" y="53726"/>
                    <a:pt x="120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0F202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428625" y="571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1800">
                  <a:solidFill>
                    <a:srgbClr val="0F2027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PhaseShift</a:t>
              </a:r>
              <a:r>
                <a:rPr b="0" lang="ja" sz="1800">
                  <a:solidFill>
                    <a:srgbClr val="1E3A5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Tech</a:t>
              </a:r>
              <a:endParaRPr b="0" sz="1800">
                <a:solidFill>
                  <a:srgbClr val="0F2027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286" name="Google Shape;286;p21"/>
          <p:cNvSpPr/>
          <p:nvPr/>
        </p:nvSpPr>
        <p:spPr>
          <a:xfrm>
            <a:off x="762000" y="1333500"/>
            <a:ext cx="571500" cy="57300"/>
          </a:xfrm>
          <a:prstGeom prst="roundRect">
            <a:avLst>
              <a:gd fmla="val 50000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762000" y="1524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2660">
                <a:solidFill>
                  <a:srgbClr val="0F2027"/>
                </a:solidFill>
                <a:latin typeface="Noto Sans JP"/>
                <a:ea typeface="Noto Sans JP"/>
                <a:cs typeface="Noto Sans JP"/>
                <a:sym typeface="Noto Sans JP"/>
              </a:rPr>
              <a:t>「掘らずに、取り戻す。」──</a:t>
            </a:r>
            <a:endParaRPr b="0" sz="2660">
              <a:solidFill>
                <a:srgbClr val="0F2027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ja" sz="19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日本の技術で、世界の資源循環を拓く</a:t>
            </a:r>
            <a:endParaRPr b="0" sz="196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762000" y="238125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ja" sz="6400">
                <a:solidFill>
                  <a:srgbClr val="E9ECEF"/>
                </a:solidFill>
                <a:latin typeface="Inter Black"/>
                <a:ea typeface="Inter Black"/>
                <a:cs typeface="Inter Black"/>
                <a:sym typeface="Inter Black"/>
              </a:rPr>
              <a:t>“</a:t>
            </a:r>
            <a:endParaRPr b="0" sz="6400">
              <a:solidFill>
                <a:srgbClr val="E9ECEF"/>
              </a:solidFill>
              <a:latin typeface="Inter Black"/>
              <a:ea typeface="Inter Black"/>
              <a:cs typeface="Inter Black"/>
              <a:sym typeface="Inter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「10代から25年通い続けた千葉・白子町の消滅危機が原点。</a:t>
            </a:r>
            <a:b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1" lang="ja" sz="200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rPr>
              <a:t>自然資本を新たに削らず、捨てられた流れから資源を取り戻す。」</a:t>
            </a:r>
            <a:endParaRPr b="1" sz="2000">
              <a:solidFill>
                <a:srgbClr val="1E3A5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762000" y="4000500"/>
            <a:ext cx="3619500" cy="666900"/>
            <a:chOff x="0" y="0"/>
            <a:chExt cx="3619500" cy="666900"/>
          </a:xfrm>
        </p:grpSpPr>
        <p:sp>
          <p:nvSpPr>
            <p:cNvPr id="290" name="Google Shape;290;p21"/>
            <p:cNvSpPr/>
            <p:nvPr/>
          </p:nvSpPr>
          <p:spPr>
            <a:xfrm>
              <a:off x="0" y="0"/>
              <a:ext cx="3619500" cy="666900"/>
            </a:xfrm>
            <a:prstGeom prst="roundRect">
              <a:avLst>
                <a:gd fmla="val 1714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190500" y="142875"/>
              <a:ext cx="228600" cy="381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 txBox="1"/>
            <p:nvPr/>
          </p:nvSpPr>
          <p:spPr>
            <a:xfrm>
              <a:off x="190500" y="2286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9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【投資家へ】</a:t>
              </a:r>
              <a:endParaRPr b="1" sz="9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ja" sz="126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二段J-KISS 計</a:t>
              </a:r>
              <a:r>
                <a:rPr b="1" lang="ja" sz="1260">
                  <a:solidFill>
                    <a:srgbClr val="FF6B6B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1.9億円</a:t>
              </a:r>
              <a:endParaRPr b="1" sz="12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4572000" y="4000500"/>
            <a:ext cx="3619500" cy="666900"/>
            <a:chOff x="0" y="0"/>
            <a:chExt cx="3619500" cy="666900"/>
          </a:xfrm>
        </p:grpSpPr>
        <p:sp>
          <p:nvSpPr>
            <p:cNvPr id="294" name="Google Shape;294;p21"/>
            <p:cNvSpPr/>
            <p:nvPr/>
          </p:nvSpPr>
          <p:spPr>
            <a:xfrm>
              <a:off x="0" y="0"/>
              <a:ext cx="3619500" cy="666900"/>
            </a:xfrm>
            <a:prstGeom prst="roundRect">
              <a:avLst>
                <a:gd fmla="val 17142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190500" y="142875"/>
              <a:ext cx="228600" cy="38100"/>
            </a:xfrm>
            <a:prstGeom prst="roundRect">
              <a:avLst>
                <a:gd fmla="val 50000" name="adj"/>
              </a:avLst>
            </a:prstGeom>
            <a:solidFill>
              <a:srgbClr val="00A8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1"/>
            <p:cNvSpPr txBox="1"/>
            <p:nvPr/>
          </p:nvSpPr>
          <p:spPr>
            <a:xfrm>
              <a:off x="190500" y="22860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91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【事業会社へ】</a:t>
              </a:r>
              <a:endParaRPr b="1" sz="91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ja" sz="1260">
                  <a:solidFill>
                    <a:srgbClr val="1E3A5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有償PoCパートナー募集</a:t>
              </a:r>
              <a:endParaRPr b="1" sz="1260">
                <a:solidFill>
                  <a:srgbClr val="1E3A5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97" name="Google Shape;297;p21"/>
          <p:cNvGrpSpPr/>
          <p:nvPr/>
        </p:nvGrpSpPr>
        <p:grpSpPr>
          <a:xfrm>
            <a:off x="3524250" y="4762500"/>
            <a:ext cx="2095500" cy="304800"/>
            <a:chOff x="0" y="0"/>
            <a:chExt cx="2095500" cy="304800"/>
          </a:xfrm>
        </p:grpSpPr>
        <p:sp>
          <p:nvSpPr>
            <p:cNvPr id="298" name="Google Shape;298;p21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fmla="val 50000" name="adj"/>
              </a:avLst>
            </a:prstGeom>
            <a:solidFill>
              <a:srgbClr val="F8F9FA"/>
            </a:solidFill>
            <a:ln cap="flat" cmpd="sng" w="9525">
              <a:solidFill>
                <a:srgbClr val="E9EC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1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ja" sz="900">
                  <a:solidFill>
                    <a:srgbClr val="1E3A5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TIB STUDIO DEMO DAY 2026</a:t>
              </a:r>
              <a:endParaRPr b="0" sz="900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